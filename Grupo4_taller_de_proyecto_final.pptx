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Raleway SemiBold"/>
      <p:regular r:id="rId41"/>
      <p:bold r:id="rId42"/>
      <p:italic r:id="rId43"/>
      <p:boldItalic r:id="rId44"/>
    </p:embeddedFont>
    <p:embeddedFont>
      <p:font typeface="Raleway ExtraBold"/>
      <p:bold r:id="rId45"/>
      <p:bold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Raleway Light"/>
      <p:regular r:id="rId51"/>
      <p:bold r:id="rId52"/>
      <p:italic r:id="rId53"/>
      <p:boldItalic r:id="rId54"/>
    </p:embeddedFont>
    <p:embeddedFont>
      <p:font typeface="Raleway Medium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D242BC-4F9A-43C5-B99E-CC6F9F936A56}">
  <a:tblStyle styleId="{B8D242BC-4F9A-43C5-B99E-CC6F9F936A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14AF6BE-81F6-481A-B08C-F51207E83DD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42" Type="http://schemas.openxmlformats.org/officeDocument/2006/relationships/font" Target="fonts/RalewaySemiBold-bold.fntdata"/><Relationship Id="rId41" Type="http://schemas.openxmlformats.org/officeDocument/2006/relationships/font" Target="fonts/RalewaySemiBold-regular.fntdata"/><Relationship Id="rId44" Type="http://schemas.openxmlformats.org/officeDocument/2006/relationships/font" Target="fonts/RalewaySemiBold-boldItalic.fntdata"/><Relationship Id="rId43" Type="http://schemas.openxmlformats.org/officeDocument/2006/relationships/font" Target="fonts/RalewaySemiBold-italic.fntdata"/><Relationship Id="rId46" Type="http://schemas.openxmlformats.org/officeDocument/2006/relationships/font" Target="fonts/RalewayExtraBold-boldItalic.fntdata"/><Relationship Id="rId45" Type="http://schemas.openxmlformats.org/officeDocument/2006/relationships/font" Target="fonts/Raleway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Raleway-regular.fntdata"/><Relationship Id="rId36" Type="http://schemas.openxmlformats.org/officeDocument/2006/relationships/slide" Target="slides/slide30.xml"/><Relationship Id="rId39" Type="http://schemas.openxmlformats.org/officeDocument/2006/relationships/font" Target="fonts/Raleway-italic.fntdata"/><Relationship Id="rId38" Type="http://schemas.openxmlformats.org/officeDocument/2006/relationships/font" Target="fonts/Raleway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alewayLight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RalewayLight-italic.fntdata"/><Relationship Id="rId52" Type="http://schemas.openxmlformats.org/officeDocument/2006/relationships/font" Target="fonts/RalewayLight-bold.fntdata"/><Relationship Id="rId11" Type="http://schemas.openxmlformats.org/officeDocument/2006/relationships/slide" Target="slides/slide5.xml"/><Relationship Id="rId55" Type="http://schemas.openxmlformats.org/officeDocument/2006/relationships/font" Target="fonts/RalewayMedium-regular.fntdata"/><Relationship Id="rId10" Type="http://schemas.openxmlformats.org/officeDocument/2006/relationships/slide" Target="slides/slide4.xml"/><Relationship Id="rId54" Type="http://schemas.openxmlformats.org/officeDocument/2006/relationships/font" Target="fonts/RalewayLight-boldItalic.fntdata"/><Relationship Id="rId13" Type="http://schemas.openxmlformats.org/officeDocument/2006/relationships/slide" Target="slides/slide7.xml"/><Relationship Id="rId57" Type="http://schemas.openxmlformats.org/officeDocument/2006/relationships/font" Target="fonts/RalewayMedium-italic.fntdata"/><Relationship Id="rId12" Type="http://schemas.openxmlformats.org/officeDocument/2006/relationships/slide" Target="slides/slide6.xml"/><Relationship Id="rId56" Type="http://schemas.openxmlformats.org/officeDocument/2006/relationships/font" Target="fonts/Raleway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Raleway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2f0515c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62f0515c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7a32958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97a32958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45681ccb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45681ccb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45681cc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45681c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645681ccb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645681ccb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c55b52f7_0_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9c55b52f7_0_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9c55b52f7_0_2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9c55b52f7_0_2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c55b52f7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9c55b52f7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4119b2a6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4119b2a6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b5c910b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8b5c910b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8b5c910b3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8b5c910b3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b5c910b3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8b5c910b3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4119b2a6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4119b2a6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c55b52f7_0_2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9c55b52f7_0_2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b5c910b3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8b5c910b3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b5c910b3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8b5c910b3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b5c910b3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8b5c910b3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8b5c910b3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8b5c910b3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8b5c910b3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8b5c910b3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4119b2a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4119b2a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119b2a6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4119b2a6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babe5ba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8babe5ba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8b5c910b3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8b5c910b3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8babe5ba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8babe5ba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8babe5ba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8babe5ba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8b5c910b3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8b5c910b3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8babe5baf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8babe5baf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990845b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990845b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990845bad_18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990845bad_18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990845bad_18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990845bad_18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(g3f62f0515cd_13_0)">
  <p:cSld name="Diapositiva de título (g3f62f0515cd_13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4697dbeb_17_0)">
  <p:cSld name="Generated (g3f64697dbeb_17_0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hyperlink" Target="https://doi.org/10.5334/dsj-2015-002" TargetMode="External"/><Relationship Id="rId10" Type="http://schemas.openxmlformats.org/officeDocument/2006/relationships/hyperlink" Target="https://www.agenciaeducacion.cl/" TargetMode="External"/><Relationship Id="rId12" Type="http://schemas.openxmlformats.org/officeDocument/2006/relationships/hyperlink" Target="https://doi.org/10.5334/dsj-2015-002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archivos.agenciaeducacion.cl/Metodologia_de_Construccion_de_Grupos_Socioeconomicos_Simce_2013.pdf" TargetMode="External"/><Relationship Id="rId4" Type="http://schemas.openxmlformats.org/officeDocument/2006/relationships/hyperlink" Target="https://archivos.agenciaeducacion.cl/Libro_Guia_Metodologica_Uso_de_Datos_2020.pdf" TargetMode="External"/><Relationship Id="rId9" Type="http://schemas.openxmlformats.org/officeDocument/2006/relationships/hyperlink" Target="https://www.agenciaeducacion.cl/" TargetMode="External"/><Relationship Id="rId5" Type="http://schemas.openxmlformats.org/officeDocument/2006/relationships/hyperlink" Target="https://s3.us-east-1.amazonaws.com/archivos.agenciaeducacion.cl/Informe_Tecnico_2024.pdf" TargetMode="External"/><Relationship Id="rId6" Type="http://schemas.openxmlformats.org/officeDocument/2006/relationships/hyperlink" Target="https://s3.us-east-1.amazonaws.com/archivos.agenciaeducacion.cl/IDPS_Informe-tecnico-2024.pdf" TargetMode="External"/><Relationship Id="rId7" Type="http://schemas.openxmlformats.org/officeDocument/2006/relationships/hyperlink" Target="https://www.agenciaeducacion.cl/" TargetMode="External"/><Relationship Id="rId8" Type="http://schemas.openxmlformats.org/officeDocument/2006/relationships/hyperlink" Target="https://www.agenciaeducacion.cl/" TargetMode="External"/></Relationships>
</file>

<file path=ppt/slides/_rels/slide30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latercera.com/diario-impreso/resultados-individuales-del-simce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i.org/10.7203/RASE.9.1.8400" TargetMode="External"/><Relationship Id="rId4" Type="http://schemas.openxmlformats.org/officeDocument/2006/relationships/hyperlink" Target="https://doi.org/10.7203/RASE.9.1.8400" TargetMode="External"/><Relationship Id="rId9" Type="http://schemas.openxmlformats.org/officeDocument/2006/relationships/hyperlink" Target="https://www.latercera.com/diario-impreso/resultados-individuales-del-simce/" TargetMode="External"/><Relationship Id="rId5" Type="http://schemas.openxmlformats.org/officeDocument/2006/relationships/hyperlink" Target="https://drive.google.com/file/d/1EbPf3O7McBetNWfGU2AJ_oTQv1C7RKcU/view" TargetMode="External"/><Relationship Id="rId6" Type="http://schemas.openxmlformats.org/officeDocument/2006/relationships/hyperlink" Target="https://drive.google.com/file/d/1EbPf3O7McBetNWfGU2AJ_oTQv1C7RKcU/view" TargetMode="External"/><Relationship Id="rId7" Type="http://schemas.openxmlformats.org/officeDocument/2006/relationships/hyperlink" Target="https://doi.org/10.1002/berj.3599" TargetMode="External"/><Relationship Id="rId8" Type="http://schemas.openxmlformats.org/officeDocument/2006/relationships/hyperlink" Target="https://doi.org/10.1002/berj.35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571500" y="857250"/>
            <a:ext cx="4762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00"/>
              </a:spcAft>
              <a:buNone/>
            </a:pPr>
            <a:r>
              <a:rPr b="0" lang="es-419" sz="3800">
                <a:solidFill>
                  <a:srgbClr val="D6B4F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Factores</a:t>
            </a:r>
            <a:r>
              <a:rPr b="0" lang="es-419" sz="38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que inciden en el logro de </a:t>
            </a:r>
            <a:r>
              <a:rPr b="0" lang="es-419" sz="3800">
                <a:solidFill>
                  <a:srgbClr val="D6B4F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aprendizaje</a:t>
            </a:r>
            <a:r>
              <a:rPr lang="es-419" sz="38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en escuelas con bajo nivel socioeconómico</a:t>
            </a:r>
            <a:endParaRPr b="0" sz="2000">
              <a:solidFill>
                <a:srgbClr val="A992C4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6000750" y="857250"/>
            <a:ext cx="2286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D6B4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Taller de proyecto</a:t>
            </a:r>
            <a:endParaRPr b="1" sz="900">
              <a:solidFill>
                <a:srgbClr val="D6B4F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Grupo 4</a:t>
            </a:r>
            <a:endParaRPr b="1" sz="18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419" sz="800">
                <a:solidFill>
                  <a:srgbClr val="A992C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Integrantes</a:t>
            </a:r>
            <a:endParaRPr b="0" sz="800">
              <a:solidFill>
                <a:srgbClr val="A992C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Felipe Riquelme Becerra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Jorge Sepúlveda Sepúlveda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Manuel Sanhueza Moncada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Osvaldo Vázquez Ortega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Verónica Canales Guerrero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problema</a:t>
            </a:r>
            <a:endParaRPr/>
          </a:p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2787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5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Chile, el rendimiento académico de los estudiantes está</a:t>
            </a: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 sz="15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fuertemente asociado </a:t>
            </a:r>
            <a:r>
              <a:rPr lang="es-419" sz="15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el nivel socioeconómico.</a:t>
            </a:r>
            <a:endParaRPr b="1" sz="15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0" y="4876565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Fuente: Elaboración propia a partir de bases de datos del proceso del Simce 2° medio 2024. Ministerio de Educación.</a:t>
            </a:r>
            <a:endParaRPr sz="6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400" y="1220825"/>
            <a:ext cx="5740201" cy="283817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7"/>
          <p:cNvGrpSpPr/>
          <p:nvPr/>
        </p:nvGrpSpPr>
        <p:grpSpPr>
          <a:xfrm>
            <a:off x="571500" y="571500"/>
            <a:ext cx="8001000" cy="4000500"/>
            <a:chOff x="571500" y="571500"/>
            <a:chExt cx="8001000" cy="4000500"/>
          </a:xfrm>
        </p:grpSpPr>
        <p:sp>
          <p:nvSpPr>
            <p:cNvPr id="78" name="Google Shape;78;p17"/>
            <p:cNvSpPr txBox="1"/>
            <p:nvPr/>
          </p:nvSpPr>
          <p:spPr>
            <a:xfrm>
              <a:off x="571500" y="1923475"/>
              <a:ext cx="4000500" cy="1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s-419" sz="15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No obstante, existen investigaciones que muestran que </a:t>
              </a:r>
              <a:r>
                <a:rPr b="1" lang="es-419" sz="1500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ciertas escuelas logran superar sus condiciones de partida</a:t>
              </a:r>
              <a:r>
                <a:rPr b="0" lang="es-419" sz="15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 y obtienen resultados superiores a los esperados en su contexto.</a:t>
              </a:r>
              <a:endParaRPr b="0" sz="15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9" name="Google Shape;79;p17"/>
            <p:cNvGrpSpPr/>
            <p:nvPr/>
          </p:nvGrpSpPr>
          <p:grpSpPr>
            <a:xfrm>
              <a:off x="4953000" y="571500"/>
              <a:ext cx="3619500" cy="4000500"/>
              <a:chOff x="4953000" y="571500"/>
              <a:chExt cx="3619500" cy="4000500"/>
            </a:xfrm>
          </p:grpSpPr>
          <p:sp>
            <p:nvSpPr>
              <p:cNvPr id="80" name="Google Shape;80;p17"/>
              <p:cNvSpPr/>
              <p:nvPr/>
            </p:nvSpPr>
            <p:spPr>
              <a:xfrm>
                <a:off x="4953000" y="571500"/>
                <a:ext cx="3619500" cy="4000500"/>
              </a:xfrm>
              <a:prstGeom prst="roundRect">
                <a:avLst>
                  <a:gd fmla="val 421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7"/>
              <p:cNvSpPr txBox="1"/>
              <p:nvPr/>
            </p:nvSpPr>
            <p:spPr>
              <a:xfrm>
                <a:off x="5143500" y="3429000"/>
                <a:ext cx="3238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s-419">
                    <a:solidFill>
                      <a:srgbClr val="1E293B"/>
                    </a:solidFill>
                    <a:latin typeface="Roboto"/>
                    <a:ea typeface="Roboto"/>
                    <a:cs typeface="Roboto"/>
                    <a:sym typeface="Roboto"/>
                  </a:rPr>
                  <a:t>¿Quién dijo que no se puede?</a:t>
                </a:r>
                <a:endParaRPr b="1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0" l="7118" r="7126" t="0"/>
          <a:stretch/>
        </p:blipFill>
        <p:spPr>
          <a:xfrm>
            <a:off x="5143500" y="857250"/>
            <a:ext cx="3238500" cy="2476500"/>
          </a:xfrm>
          <a:prstGeom prst="roundRect">
            <a:avLst>
              <a:gd fmla="val 3076" name="adj"/>
            </a:avLst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problema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5262750" y="34408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Bellei, C., Muñoz, G., Pérez, L.M. y Raczynski, D. (2004)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571500" y="1714500"/>
            <a:ext cx="57300" cy="1905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857250" y="1524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Pregunta de investigación</a:t>
            </a:r>
            <a:endParaRPr b="1" sz="1100">
              <a:solidFill>
                <a:srgbClr val="2563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s-419" sz="2400">
                <a:solidFill>
                  <a:srgbClr val="1E293B"/>
                </a:solidFill>
                <a:latin typeface="Raleway Light"/>
                <a:ea typeface="Raleway Light"/>
                <a:cs typeface="Raleway Light"/>
                <a:sym typeface="Raleway Light"/>
              </a:rPr>
              <a:t>¿Qué </a:t>
            </a:r>
            <a:r>
              <a:rPr b="1" lang="es-419" sz="2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caracteriza</a:t>
            </a:r>
            <a:r>
              <a:rPr b="0" lang="es-419" sz="2400">
                <a:solidFill>
                  <a:srgbClr val="1E293B"/>
                </a:solidFill>
                <a:latin typeface="Raleway Light"/>
                <a:ea typeface="Raleway Light"/>
                <a:cs typeface="Raleway Light"/>
                <a:sym typeface="Raleway Light"/>
              </a:rPr>
              <a:t> a las escuelas de un nivel socioeconómico bajo que alcanzan </a:t>
            </a:r>
            <a:r>
              <a:rPr b="1" lang="es-419" sz="2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mejores logros de aprendizaje</a:t>
            </a:r>
            <a:r>
              <a:rPr b="0" lang="es-419" sz="2400">
                <a:solidFill>
                  <a:srgbClr val="1E293B"/>
                </a:solidFill>
                <a:latin typeface="Raleway Light"/>
                <a:ea typeface="Raleway Light"/>
                <a:cs typeface="Raleway Light"/>
                <a:sym typeface="Raleway Light"/>
              </a:rPr>
              <a:t> que otras escuelas en condiciones similares?</a:t>
            </a:r>
            <a:endParaRPr b="0" sz="2400">
              <a:solidFill>
                <a:srgbClr val="1E293B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rPr>
              <a:t>Objetivo</a:t>
            </a:r>
            <a:endParaRPr b="1" sz="3000">
              <a:solidFill>
                <a:srgbClr val="1E293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96" name="Google Shape;96;p19"/>
          <p:cNvGrpSpPr/>
          <p:nvPr/>
        </p:nvGrpSpPr>
        <p:grpSpPr>
          <a:xfrm>
            <a:off x="476250" y="1095375"/>
            <a:ext cx="8191350" cy="1143000"/>
            <a:chOff x="476250" y="1095375"/>
            <a:chExt cx="8191350" cy="1143000"/>
          </a:xfrm>
        </p:grpSpPr>
        <p:sp>
          <p:nvSpPr>
            <p:cNvPr id="97" name="Google Shape;97;p19"/>
            <p:cNvSpPr/>
            <p:nvPr/>
          </p:nvSpPr>
          <p:spPr>
            <a:xfrm>
              <a:off x="476250" y="114300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9"/>
            <p:cNvSpPr txBox="1"/>
            <p:nvPr/>
          </p:nvSpPr>
          <p:spPr>
            <a:xfrm>
              <a:off x="723900" y="1095375"/>
              <a:ext cx="794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Identificar los factores asociados a </a:t>
              </a:r>
              <a:r>
                <a:rPr b="1" lang="es-419" sz="2000">
                  <a:solidFill>
                    <a:srgbClr val="2563EB"/>
                  </a:solidFill>
                  <a:latin typeface="Raleway"/>
                  <a:ea typeface="Raleway"/>
                  <a:cs typeface="Raleway"/>
                  <a:sym typeface="Raleway"/>
                </a:rPr>
                <a:t>mejores logros SIMCE</a:t>
              </a: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en establecimientos de </a:t>
              </a:r>
              <a:r>
                <a:rPr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G</a:t>
              </a: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SE bajo y medio-bajo, mediante </a:t>
              </a:r>
              <a:r>
                <a:rPr b="1" lang="es-419" sz="20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perfilamiento </a:t>
              </a:r>
              <a:r>
                <a:rPr lang="es-419" sz="20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(clustering)</a:t>
              </a: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y </a:t>
              </a:r>
              <a:r>
                <a:rPr b="1" lang="es-419" sz="20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modelos de clasificación</a:t>
              </a: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.</a:t>
              </a:r>
              <a:endParaRPr b="0" sz="2000">
                <a:solidFill>
                  <a:srgbClr val="1E293B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  <p:grpSp>
        <p:nvGrpSpPr>
          <p:cNvPr id="99" name="Google Shape;99;p19"/>
          <p:cNvGrpSpPr/>
          <p:nvPr/>
        </p:nvGrpSpPr>
        <p:grpSpPr>
          <a:xfrm>
            <a:off x="476250" y="2609850"/>
            <a:ext cx="3905400" cy="2000250"/>
            <a:chOff x="476250" y="2609850"/>
            <a:chExt cx="3905400" cy="2000250"/>
          </a:xfrm>
        </p:grpSpPr>
        <p:sp>
          <p:nvSpPr>
            <p:cNvPr id="100" name="Google Shape;100;p19"/>
            <p:cNvSpPr/>
            <p:nvPr/>
          </p:nvSpPr>
          <p:spPr>
            <a:xfrm>
              <a:off x="476250" y="260985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476250" y="2667000"/>
              <a:ext cx="3905400" cy="1943100"/>
            </a:xfrm>
            <a:prstGeom prst="roundRect">
              <a:avLst>
                <a:gd fmla="val 392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9"/>
            <p:cNvSpPr txBox="1"/>
            <p:nvPr/>
          </p:nvSpPr>
          <p:spPr>
            <a:xfrm>
              <a:off x="714375" y="2857500"/>
              <a:ext cx="3429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Entidad a analizar</a:t>
              </a:r>
              <a:endParaRPr b="1" sz="11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600">
                  <a:solidFill>
                    <a:srgbClr val="1E293B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Establecimientos educacionales con enseñanza media</a:t>
              </a:r>
              <a:endParaRPr b="0" sz="1600">
                <a:solidFill>
                  <a:srgbClr val="1E293B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103" name="Google Shape;103;p19"/>
          <p:cNvGrpSpPr/>
          <p:nvPr/>
        </p:nvGrpSpPr>
        <p:grpSpPr>
          <a:xfrm>
            <a:off x="4762500" y="2609850"/>
            <a:ext cx="3905400" cy="2000250"/>
            <a:chOff x="4762500" y="2609850"/>
            <a:chExt cx="3905400" cy="2000250"/>
          </a:xfrm>
        </p:grpSpPr>
        <p:sp>
          <p:nvSpPr>
            <p:cNvPr id="104" name="Google Shape;104;p19"/>
            <p:cNvSpPr/>
            <p:nvPr/>
          </p:nvSpPr>
          <p:spPr>
            <a:xfrm>
              <a:off x="4762500" y="260985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9"/>
            <p:cNvSpPr/>
            <p:nvPr/>
          </p:nvSpPr>
          <p:spPr>
            <a:xfrm>
              <a:off x="4762500" y="2667000"/>
              <a:ext cx="3905400" cy="1943100"/>
            </a:xfrm>
            <a:prstGeom prst="roundRect">
              <a:avLst>
                <a:gd fmla="val 392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9"/>
            <p:cNvSpPr txBox="1"/>
            <p:nvPr/>
          </p:nvSpPr>
          <p:spPr>
            <a:xfrm>
              <a:off x="5000625" y="2857500"/>
              <a:ext cx="3429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Comportamiento a estudiar</a:t>
              </a:r>
              <a:endParaRPr b="1"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600">
                  <a:solidFill>
                    <a:srgbClr val="1E293B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Logro de aprendizaje SIMCE Matemática 2°M en escuelas GSE bajo/medio-bajo</a:t>
              </a:r>
              <a:endParaRPr b="0" sz="1600">
                <a:solidFill>
                  <a:srgbClr val="1E293B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12" name="Google Shape;112;p20"/>
          <p:cNvGrpSpPr/>
          <p:nvPr/>
        </p:nvGrpSpPr>
        <p:grpSpPr>
          <a:xfrm>
            <a:off x="186686" y="1295400"/>
            <a:ext cx="8134226" cy="2895600"/>
            <a:chOff x="285750" y="1295400"/>
            <a:chExt cx="7905750" cy="2895600"/>
          </a:xfrm>
        </p:grpSpPr>
        <p:pic>
          <p:nvPicPr>
            <p:cNvPr id="113" name="Google Shape;113;p20"/>
            <p:cNvPicPr preferRelativeResize="0"/>
            <p:nvPr/>
          </p:nvPicPr>
          <p:blipFill rotWithShape="1">
            <a:blip r:embed="rId3">
              <a:alphaModFix/>
            </a:blip>
            <a:srcRect b="3157" l="0" r="0" t="3157"/>
            <a:stretch/>
          </p:blipFill>
          <p:spPr>
            <a:xfrm>
              <a:off x="952500" y="1504950"/>
              <a:ext cx="72390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0"/>
            <p:cNvSpPr/>
            <p:nvPr/>
          </p:nvSpPr>
          <p:spPr>
            <a:xfrm>
              <a:off x="723900" y="1295400"/>
              <a:ext cx="457200" cy="457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0"/>
            <p:cNvSpPr txBox="1"/>
            <p:nvPr/>
          </p:nvSpPr>
          <p:spPr>
            <a:xfrm>
              <a:off x="8382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16" name="Google Shape;116;p20"/>
            <p:cNvSpPr txBox="1"/>
            <p:nvPr/>
          </p:nvSpPr>
          <p:spPr>
            <a:xfrm>
              <a:off x="2857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8B5CF6"/>
                  </a:solidFill>
                  <a:latin typeface="Raleway"/>
                  <a:ea typeface="Raleway"/>
                  <a:cs typeface="Raleway"/>
                  <a:sym typeface="Raleway"/>
                </a:rPr>
                <a:t>Base inicial</a:t>
              </a:r>
              <a:endParaRPr b="1" sz="1300">
                <a:solidFill>
                  <a:srgbClr val="8B5CF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3.000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SIMCE Mat. 2°M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2024, todos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los GSE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7" name="Google Shape;117;p20"/>
            <p:cNvSpPr/>
            <p:nvPr/>
          </p:nvSpPr>
          <p:spPr>
            <a:xfrm>
              <a:off x="2171700" y="1295400"/>
              <a:ext cx="457200" cy="457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 txBox="1"/>
            <p:nvPr/>
          </p:nvSpPr>
          <p:spPr>
            <a:xfrm>
              <a:off x="22860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19" name="Google Shape;119;p20"/>
            <p:cNvSpPr txBox="1"/>
            <p:nvPr/>
          </p:nvSpPr>
          <p:spPr>
            <a:xfrm>
              <a:off x="17335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Variable objetivo</a:t>
              </a:r>
              <a:endParaRPr b="1" sz="1300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</a:t>
              </a: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.966</a:t>
              </a:r>
              <a:endParaRPr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97 puntajes no representativos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 utilizan resultados del </a:t>
              </a: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Simce 2023</a:t>
              </a: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para completar establecimientos sin respuesta (68 imputados)</a:t>
              </a:r>
              <a:endParaRPr b="1" sz="1000">
                <a:solidFill>
                  <a:srgbClr val="47556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0" name="Google Shape;120;p20"/>
            <p:cNvSpPr/>
            <p:nvPr/>
          </p:nvSpPr>
          <p:spPr>
            <a:xfrm>
              <a:off x="3619500" y="1295400"/>
              <a:ext cx="457200" cy="457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 txBox="1"/>
            <p:nvPr/>
          </p:nvSpPr>
          <p:spPr>
            <a:xfrm>
              <a:off x="37338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2" name="Google Shape;122;p20"/>
            <p:cNvSpPr txBox="1"/>
            <p:nvPr/>
          </p:nvSpPr>
          <p:spPr>
            <a:xfrm>
              <a:off x="31813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Confiabilidad</a:t>
              </a:r>
              <a:endParaRPr b="1" sz="1300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</a:t>
              </a: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.947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19 casos con 6 o menos estudiantes evaluados</a:t>
              </a:r>
              <a:endParaRPr sz="9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3" name="Google Shape;123;p20"/>
            <p:cNvSpPr/>
            <p:nvPr/>
          </p:nvSpPr>
          <p:spPr>
            <a:xfrm>
              <a:off x="5067300" y="1295400"/>
              <a:ext cx="457200" cy="457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 txBox="1"/>
            <p:nvPr/>
          </p:nvSpPr>
          <p:spPr>
            <a:xfrm>
              <a:off x="51816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5" name="Google Shape;125;p20"/>
            <p:cNvSpPr txBox="1"/>
            <p:nvPr/>
          </p:nvSpPr>
          <p:spPr>
            <a:xfrm>
              <a:off x="46291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8B5CF6"/>
                  </a:solidFill>
                  <a:latin typeface="Raleway"/>
                  <a:ea typeface="Raleway"/>
                  <a:cs typeface="Raleway"/>
                  <a:sym typeface="Raleway"/>
                </a:rPr>
                <a:t>Casos de interés</a:t>
              </a:r>
              <a:endParaRPr b="1" sz="1300">
                <a:solidFill>
                  <a:srgbClr val="8B5CF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1.533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-419" sz="10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• 678</a:t>
              </a: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GSE bajo</a:t>
              </a:r>
              <a:endParaRPr b="1" sz="1000">
                <a:solidFill>
                  <a:srgbClr val="8B5CF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-419" sz="10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• 855</a:t>
              </a: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GSE medio-bajo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6515100" y="1295400"/>
              <a:ext cx="457200" cy="457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 txBox="1"/>
            <p:nvPr/>
          </p:nvSpPr>
          <p:spPr>
            <a:xfrm>
              <a:off x="66294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5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8" name="Google Shape;128;p20"/>
            <p:cNvSpPr txBox="1"/>
            <p:nvPr/>
          </p:nvSpPr>
          <p:spPr>
            <a:xfrm>
              <a:off x="60769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8B5CF6"/>
                  </a:solidFill>
                  <a:latin typeface="Raleway"/>
                  <a:ea typeface="Raleway"/>
                  <a:cs typeface="Raleway"/>
                  <a:sym typeface="Raleway"/>
                </a:rPr>
                <a:t>Cruce de fuentes</a:t>
              </a:r>
              <a:endParaRPr b="1" sz="1300">
                <a:solidFill>
                  <a:srgbClr val="8B5CF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1.526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IDPS, género, asistencia, IVEy docentes, 7 sin IDPS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7909560" y="12954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8023860" y="13716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1"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7692390" y="1905000"/>
            <a:ext cx="13335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rPr>
              <a:t>Muestra final</a:t>
            </a:r>
            <a:endParaRPr b="1" sz="1300">
              <a:solidFill>
                <a:srgbClr val="10B98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1.429</a:t>
            </a:r>
            <a:endParaRPr b="1" sz="1050">
              <a:solidFill>
                <a:srgbClr val="8B5CF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96 con 10% o más sin dato en género y 1 sin asistencia</a:t>
            </a:r>
            <a:endParaRPr b="1" sz="100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617225" y="4373875"/>
            <a:ext cx="282000" cy="274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617225" y="4739625"/>
            <a:ext cx="282000" cy="274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960100" y="43738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Definición de la base</a:t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960100" y="47036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Tratamiento de valores perdidos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38997" y="808250"/>
            <a:ext cx="362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Características de los establecimientos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150" l="0" r="0" t="150"/>
          <a:stretch/>
        </p:blipFill>
        <p:spPr>
          <a:xfrm>
            <a:off x="285750" y="1238250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5048250" y="1238250"/>
            <a:ext cx="3810000" cy="3429000"/>
          </a:xfrm>
          <a:prstGeom prst="roundRect">
            <a:avLst>
              <a:gd fmla="val 2222" name="adj"/>
            </a:avLst>
          </a:prstGeom>
          <a:solidFill>
            <a:srgbClr val="F9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5048250" y="1238250"/>
            <a:ext cx="38100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Principales características</a:t>
            </a:r>
            <a:endParaRPr b="1" sz="14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Nivel socioeconómico: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44% de los establecimientos son de GSE bajo y </a:t>
            </a:r>
            <a:r>
              <a:rPr b="1" lang="es-419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56% de GSE medio-bajo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150">
              <a:solidFill>
                <a:srgbClr val="3341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Dependencia administrativa: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b="1" lang="es-419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53% particulares subvencionados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38% municipales y 8% SLEP.</a:t>
            </a:r>
            <a:endParaRPr sz="1150">
              <a:solidFill>
                <a:srgbClr val="3341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Distribución geográfica: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b="1" lang="es-419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91% urbano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y 9% rural.</a:t>
            </a:r>
            <a:endParaRPr sz="1150">
              <a:solidFill>
                <a:srgbClr val="3341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Concentración regional: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mayor parte en la </a:t>
            </a:r>
            <a:r>
              <a:rPr b="1" lang="es-419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RM (31%)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seguido por Valparaíso (11%) y Biobío (9%).</a:t>
            </a:r>
            <a:endParaRPr sz="1150">
              <a:solidFill>
                <a:srgbClr val="3341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125" y="2709639"/>
            <a:ext cx="6201750" cy="211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587400" y="1114445"/>
            <a:ext cx="82449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Char char="-"/>
            </a:pPr>
            <a:r>
              <a:rPr b="1" lang="es-419"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puntaje promedio de matemáticas para 2do medio es de 238,0</a:t>
            </a:r>
            <a:r>
              <a:rPr lang="es-419"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con una mediana de 233 y rango entre 189 y 361.</a:t>
            </a:r>
            <a:endParaRPr sz="16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Char char="-"/>
            </a:pPr>
            <a:r>
              <a:rPr b="1" lang="es-419"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distribución es asimétrica a la derecha (skew 1,18; curtosis 2,08)</a:t>
            </a:r>
            <a:r>
              <a:rPr lang="es-419"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la mayoría de las escuelas está bajo los 252 puntos, con presencia de outliers para los valores más altos en la prueba Simce.</a:t>
            </a:r>
            <a:endParaRPr sz="16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38997" y="808250"/>
            <a:ext cx="362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Rendimiento</a:t>
            </a: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 de los establecimientos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587400" y="1040850"/>
            <a:ext cx="82449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 exploraron distintas fuentes de datos que, de acuerdo con la literatura, podrían estar asociadas con el logro académico de los establecimientos:</a:t>
            </a:r>
            <a:endParaRPr sz="17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59" name="Google Shape;159;p23"/>
          <p:cNvGraphicFramePr/>
          <p:nvPr/>
        </p:nvGraphicFramePr>
        <p:xfrm>
          <a:off x="856563" y="18564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{B8D242BC-4F9A-43C5-B99E-CC6F9F936A56}</a:tableStyleId>
              </a:tblPr>
              <a:tblGrid>
                <a:gridCol w="2791200"/>
                <a:gridCol w="4915375"/>
              </a:tblGrid>
              <a:tr h="34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Fuente</a:t>
                      </a:r>
                      <a:endParaRPr b="1" sz="12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Indicadores evaluados</a:t>
                      </a:r>
                      <a:endParaRPr b="1" sz="12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5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Indicadores de desempeño social y personal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Clima y convivencia escolar, motivación y autoestima académica, participaci</a:t>
                      </a: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ón y formación ciudadana, hábitos de vida saludable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Cuestionario estudiantes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Estereotipos de género (roles del trabajo, desempeño académico, rasgos psicológicos)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Asistencia escolar 2024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Tasa de asistencia anual de los estudiantes de 2do medio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Nivel de experiencia de los profesores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Porcentaje de profesores en tramo avanzado y experto de su carrera docente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Índice de vulnerabilidad escolar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Porcentaje de estudiantes en condición de vulnerabilidad prioritaria. Construido por JUNAEB para asignación del Programa de Alimentación Escolar (PAE)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24"/>
          <p:cNvGraphicFramePr/>
          <p:nvPr/>
        </p:nvGraphicFramePr>
        <p:xfrm>
          <a:off x="995363" y="151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3326050"/>
                <a:gridCol w="577100"/>
                <a:gridCol w="425250"/>
                <a:gridCol w="516375"/>
                <a:gridCol w="516375"/>
                <a:gridCol w="759375"/>
                <a:gridCol w="516375"/>
                <a:gridCol w="516375"/>
              </a:tblGrid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Variable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Media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D.E.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Mín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P25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Mediana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P75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Máx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Puntaje Matemática 2°M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238.0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24.9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189.0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220.0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233.0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251.0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361.0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Autoestima y motivación (0-100)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63.0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77.0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91.0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Clima y convivencia (0-100)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75.2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4.4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75.0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78.0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Participación y formación ciudadana (0-100)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77.2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4.9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60.0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77.0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80.0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95.0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Hábitos de vida saludable (0-100)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71.7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4.7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55.0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69.0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75.0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87.0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de acuerdo con estereotipos de g</a:t>
                      </a: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énero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39.9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7.9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10.7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35.3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40.1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44.6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68.3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docentes tramo avanzado o superior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32.3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17.6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19.1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33.3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45.5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74.2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IVE media (0-1)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0.59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0.85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0.90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0.93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1.00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Tasa de asistencia 2°M (0-1)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0.52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0.87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0.90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0.99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239001" y="808250"/>
            <a:ext cx="475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Características de los establecimientos: estadísticos descriptivos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38997" y="808250"/>
            <a:ext cx="362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Análisis de outliers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550" y="1108500"/>
            <a:ext cx="6865780" cy="40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238997" y="808250"/>
            <a:ext cx="362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Análisis de outliers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0" y="1238450"/>
            <a:ext cx="5664033" cy="367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y relaciones entre dimensiones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186" name="Google Shape;186;p27"/>
          <p:cNvGrpSpPr/>
          <p:nvPr/>
        </p:nvGrpSpPr>
        <p:grpSpPr>
          <a:xfrm>
            <a:off x="381000" y="1190625"/>
            <a:ext cx="3905400" cy="3571800"/>
            <a:chOff x="381000" y="1190625"/>
            <a:chExt cx="3905400" cy="3571800"/>
          </a:xfrm>
        </p:grpSpPr>
        <p:sp>
          <p:nvSpPr>
            <p:cNvPr id="187" name="Google Shape;187;p27"/>
            <p:cNvSpPr/>
            <p:nvPr/>
          </p:nvSpPr>
          <p:spPr>
            <a:xfrm>
              <a:off x="381000" y="1190625"/>
              <a:ext cx="3905400" cy="35718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 txBox="1"/>
            <p:nvPr/>
          </p:nvSpPr>
          <p:spPr>
            <a:xfrm>
              <a:off x="619125" y="1381125"/>
              <a:ext cx="3429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Relación con rendimiento SIMCE</a:t>
              </a:r>
              <a:endParaRPr b="1" sz="111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Los establecimientos con puntajes más altos en el SIMCE tienden a registrar mejores índices en los IDPS, existiendo una </a:t>
              </a:r>
              <a:r>
                <a:rPr b="1" lang="es-419" sz="1018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relación moderada</a:t>
              </a: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(con excepciones).</a:t>
              </a:r>
              <a:endParaRPr b="0" sz="1018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Asociación entre indicadores IDPS</a:t>
              </a:r>
              <a:endParaRPr b="1" sz="111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 observa una </a:t>
              </a:r>
              <a:r>
                <a:rPr b="1" lang="es-419" sz="1018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relación lineal clara y positiva</a:t>
              </a: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al </a:t>
              </a:r>
              <a:r>
                <a:rPr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analizar</a:t>
              </a: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las diferentes dimensiones de los IDPS entre sí.</a:t>
              </a:r>
              <a:endParaRPr b="0" sz="1018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10B98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Distribución de los IDPS (diagonal)</a:t>
              </a:r>
              <a:endParaRPr b="1" sz="111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0274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71"/>
                <a:buFont typeface="Source Sans Pro"/>
                <a:buChar char="●"/>
              </a:pP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La gran mayoría de los establecimientos se sitúa </a:t>
              </a:r>
              <a:r>
                <a:rPr b="1" lang="es-419" sz="971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sobre los 60 puntos</a:t>
              </a: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(en escala de 0 a 100).</a:t>
              </a:r>
              <a:endParaRPr sz="971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0274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71"/>
                <a:buFont typeface="Source Sans Pro"/>
                <a:buChar char="●"/>
              </a:pP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Existe una alta concentración en el centro, reflejando una </a:t>
              </a:r>
              <a:r>
                <a:rPr b="1" lang="es-419" sz="971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baja desviación estándar</a:t>
              </a: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por dimensión.</a:t>
              </a:r>
              <a:endParaRPr sz="971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0274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71"/>
                <a:buFont typeface="Source Sans Pro"/>
                <a:buChar char="●"/>
              </a:pP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En grupos con promedio elemental/adecuado se aprecia una dispersión </a:t>
              </a:r>
              <a:r>
                <a:rPr b="1" lang="es-419" sz="971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levemente desplazada a la derecha</a:t>
              </a: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sz="971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89" name="Google Shape;189;p27"/>
          <p:cNvGrpSpPr/>
          <p:nvPr/>
        </p:nvGrpSpPr>
        <p:grpSpPr>
          <a:xfrm>
            <a:off x="4524375" y="1190625"/>
            <a:ext cx="4238700" cy="3571800"/>
            <a:chOff x="4524375" y="1190625"/>
            <a:chExt cx="4238700" cy="3571800"/>
          </a:xfrm>
        </p:grpSpPr>
        <p:sp>
          <p:nvSpPr>
            <p:cNvPr id="190" name="Google Shape;190;p27"/>
            <p:cNvSpPr/>
            <p:nvPr/>
          </p:nvSpPr>
          <p:spPr>
            <a:xfrm>
              <a:off x="4524375" y="1190625"/>
              <a:ext cx="4238700" cy="35718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1" name="Google Shape;191;p27"/>
            <p:cNvPicPr preferRelativeResize="0"/>
            <p:nvPr/>
          </p:nvPicPr>
          <p:blipFill rotWithShape="1">
            <a:blip r:embed="rId4">
              <a:alphaModFix/>
            </a:blip>
            <a:srcRect b="3244" l="0" r="0" t="3254"/>
            <a:stretch/>
          </p:blipFill>
          <p:spPr>
            <a:xfrm>
              <a:off x="4667250" y="1333500"/>
              <a:ext cx="3952800" cy="3286200"/>
            </a:xfrm>
            <a:prstGeom prst="roundRect">
              <a:avLst>
                <a:gd fmla="val 2318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y relaciones entre dimensiones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197" name="Google Shape;197;p28"/>
          <p:cNvGrpSpPr/>
          <p:nvPr/>
        </p:nvGrpSpPr>
        <p:grpSpPr>
          <a:xfrm>
            <a:off x="381000" y="1190625"/>
            <a:ext cx="4286400" cy="3724200"/>
            <a:chOff x="381000" y="1190625"/>
            <a:chExt cx="4286400" cy="3724200"/>
          </a:xfrm>
        </p:grpSpPr>
        <p:sp>
          <p:nvSpPr>
            <p:cNvPr id="198" name="Google Shape;198;p28"/>
            <p:cNvSpPr/>
            <p:nvPr/>
          </p:nvSpPr>
          <p:spPr>
            <a:xfrm>
              <a:off x="381000" y="1190625"/>
              <a:ext cx="4286400" cy="3724200"/>
            </a:xfrm>
            <a:prstGeom prst="roundRect">
              <a:avLst>
                <a:gd fmla="val 30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9" name="Google Shape;199;p28"/>
            <p:cNvPicPr preferRelativeResize="0"/>
            <p:nvPr/>
          </p:nvPicPr>
          <p:blipFill rotWithShape="1">
            <a:blip r:embed="rId4">
              <a:alphaModFix/>
            </a:blip>
            <a:srcRect b="308" l="0" r="0" t="298"/>
            <a:stretch/>
          </p:blipFill>
          <p:spPr>
            <a:xfrm>
              <a:off x="476250" y="1285875"/>
              <a:ext cx="4095900" cy="3533700"/>
            </a:xfrm>
            <a:prstGeom prst="roundRect">
              <a:avLst>
                <a:gd fmla="val 2156" name="adj"/>
              </a:avLst>
            </a:prstGeom>
            <a:noFill/>
            <a:ln>
              <a:noFill/>
            </a:ln>
          </p:spPr>
        </p:pic>
      </p:grpSp>
      <p:grpSp>
        <p:nvGrpSpPr>
          <p:cNvPr id="200" name="Google Shape;200;p28"/>
          <p:cNvGrpSpPr/>
          <p:nvPr/>
        </p:nvGrpSpPr>
        <p:grpSpPr>
          <a:xfrm>
            <a:off x="4857750" y="1190625"/>
            <a:ext cx="3905400" cy="3724200"/>
            <a:chOff x="4857750" y="1190625"/>
            <a:chExt cx="3905400" cy="3724200"/>
          </a:xfrm>
        </p:grpSpPr>
        <p:sp>
          <p:nvSpPr>
            <p:cNvPr id="201" name="Google Shape;201;p28"/>
            <p:cNvSpPr/>
            <p:nvPr/>
          </p:nvSpPr>
          <p:spPr>
            <a:xfrm>
              <a:off x="4857750" y="1190625"/>
              <a:ext cx="3905400" cy="3724200"/>
            </a:xfrm>
            <a:prstGeom prst="roundRect">
              <a:avLst>
                <a:gd fmla="val 30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8"/>
            <p:cNvSpPr txBox="1"/>
            <p:nvPr/>
          </p:nvSpPr>
          <p:spPr>
            <a:xfrm>
              <a:off x="5048250" y="1381125"/>
              <a:ext cx="3524400" cy="33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5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Relación con rendimiento SIMCE</a:t>
              </a:r>
              <a:endParaRPr b="1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La asistencia de los estudiantes de segundo medio tiende a presentar una asociación más clara con los resultados del SIMCE: a mayor asistencia, mejores resultados en la prueba de matemáticas.</a:t>
              </a:r>
              <a:endParaRPr b="0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La relación con las creencias de género y el índice de vulnerabilidad es moderada.</a:t>
              </a:r>
              <a:endParaRPr b="0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No se observa una asociación entre el porcentaje de docentes en tramos avanzado y experto con el nivel de logro académico.</a:t>
              </a:r>
              <a:endParaRPr b="0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419" sz="1150">
                  <a:solidFill>
                    <a:srgbClr val="10B98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Distribución atributos (diagonal)</a:t>
              </a:r>
              <a:endParaRPr b="1" sz="11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Source Sans Pro"/>
                <a:buChar char="●"/>
              </a:pP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En general, existe una alta concentración en el centro, reflejando una </a:t>
              </a:r>
              <a:r>
                <a:rPr b="1" lang="es-419" sz="9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baja desviación estándar</a:t>
              </a: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por </a:t>
              </a:r>
              <a:r>
                <a:rPr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indicador</a:t>
              </a: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b="0" sz="9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Source Sans Pro"/>
                <a:buChar char="●"/>
              </a:pP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Para asistencia, los establecimientos con promedio elemental/adecuado presentan una dispersión </a:t>
              </a:r>
              <a:r>
                <a:rPr b="1" lang="es-419" sz="9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desplazada a la derecha</a:t>
              </a: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b="0" sz="9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</a:t>
            </a: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elaciones clave encontradas en el análisis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208" name="Google Shape;208;p29"/>
          <p:cNvGrpSpPr/>
          <p:nvPr/>
        </p:nvGrpSpPr>
        <p:grpSpPr>
          <a:xfrm>
            <a:off x="381000" y="1333500"/>
            <a:ext cx="2571900" cy="3333900"/>
            <a:chOff x="381000" y="1333500"/>
            <a:chExt cx="2571900" cy="3333900"/>
          </a:xfrm>
        </p:grpSpPr>
        <p:sp>
          <p:nvSpPr>
            <p:cNvPr id="209" name="Google Shape;209;p29"/>
            <p:cNvSpPr/>
            <p:nvPr/>
          </p:nvSpPr>
          <p:spPr>
            <a:xfrm>
              <a:off x="381000" y="1333500"/>
              <a:ext cx="2571900" cy="3333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9"/>
            <p:cNvSpPr txBox="1"/>
            <p:nvPr/>
          </p:nvSpPr>
          <p:spPr>
            <a:xfrm>
              <a:off x="523875" y="1476375"/>
              <a:ext cx="2286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2563EB"/>
                  </a:solidFill>
                  <a:latin typeface="Raleway"/>
                  <a:ea typeface="Raleway"/>
                  <a:cs typeface="Raleway"/>
                  <a:sym typeface="Raleway"/>
                </a:rPr>
                <a:t>Rendimiento SIMCE</a:t>
              </a:r>
              <a:endParaRPr b="1" sz="1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 identifican </a:t>
              </a:r>
              <a:r>
                <a:rPr b="1" lang="es-419" sz="110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asociaciones moderadas, pero robustas</a:t>
              </a: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entre el promedio Simce y la mayor parte de las variables analizadas.</a:t>
              </a:r>
              <a:endParaRPr b="0" sz="110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11" name="Google Shape;211;p29"/>
          <p:cNvGrpSpPr/>
          <p:nvPr/>
        </p:nvGrpSpPr>
        <p:grpSpPr>
          <a:xfrm>
            <a:off x="3286125" y="1333500"/>
            <a:ext cx="2571900" cy="3333900"/>
            <a:chOff x="3286125" y="1333500"/>
            <a:chExt cx="2571900" cy="3333900"/>
          </a:xfrm>
        </p:grpSpPr>
        <p:sp>
          <p:nvSpPr>
            <p:cNvPr id="212" name="Google Shape;212;p29"/>
            <p:cNvSpPr/>
            <p:nvPr/>
          </p:nvSpPr>
          <p:spPr>
            <a:xfrm>
              <a:off x="3286125" y="1333500"/>
              <a:ext cx="2571900" cy="3333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3429000" y="1476375"/>
              <a:ext cx="2286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2563EB"/>
                  </a:solidFill>
                  <a:latin typeface="Raleway"/>
                  <a:ea typeface="Raleway"/>
                  <a:cs typeface="Raleway"/>
                  <a:sym typeface="Raleway"/>
                </a:rPr>
                <a:t>Consistencia </a:t>
              </a:r>
              <a:r>
                <a:rPr b="1" lang="es-419">
                  <a:solidFill>
                    <a:srgbClr val="2563EB"/>
                  </a:solidFill>
                  <a:latin typeface="Raleway"/>
                  <a:ea typeface="Raleway"/>
                  <a:cs typeface="Raleway"/>
                  <a:sym typeface="Raleway"/>
                </a:rPr>
                <a:t>con literatura</a:t>
              </a:r>
              <a:endParaRPr b="1" sz="1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 mejores resultados académicos se observa:</a:t>
              </a:r>
              <a:endParaRPr b="0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Mejor clima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y convivencia escolar.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Mayor asistencia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a clases.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Menor presencia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de estereotipos de género.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14" name="Google Shape;214;p29"/>
          <p:cNvGrpSpPr/>
          <p:nvPr/>
        </p:nvGrpSpPr>
        <p:grpSpPr>
          <a:xfrm>
            <a:off x="6191250" y="1333500"/>
            <a:ext cx="2571900" cy="3333900"/>
            <a:chOff x="6191250" y="1333500"/>
            <a:chExt cx="2571900" cy="3333900"/>
          </a:xfrm>
        </p:grpSpPr>
        <p:sp>
          <p:nvSpPr>
            <p:cNvPr id="215" name="Google Shape;215;p29"/>
            <p:cNvSpPr/>
            <p:nvPr/>
          </p:nvSpPr>
          <p:spPr>
            <a:xfrm>
              <a:off x="6191250" y="1333500"/>
              <a:ext cx="2571900" cy="3333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9"/>
            <p:cNvSpPr txBox="1"/>
            <p:nvPr/>
          </p:nvSpPr>
          <p:spPr>
            <a:xfrm>
              <a:off x="6334125" y="1476375"/>
              <a:ext cx="2286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Desarrollo Social (IDPS)</a:t>
              </a:r>
              <a:endParaRPr b="1" sz="1400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Existe una </a:t>
              </a:r>
              <a:r>
                <a:rPr b="1" lang="es-419" sz="110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fuerte asociación positiva</a:t>
              </a: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entre los indicadores clave de desarrollo personal y social:</a:t>
              </a:r>
              <a:endParaRPr b="0" sz="110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950">
                  <a:solidFill>
                    <a:srgbClr val="047857"/>
                  </a:solidFill>
                  <a:highlight>
                    <a:srgbClr val="ECFDF5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Convivencia escolar</a:t>
              </a:r>
              <a:endParaRPr sz="950">
                <a:solidFill>
                  <a:srgbClr val="047857"/>
                </a:solidFill>
                <a:highlight>
                  <a:srgbClr val="ECFDF5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50">
                  <a:solidFill>
                    <a:srgbClr val="047857"/>
                  </a:solidFill>
                  <a:highlight>
                    <a:srgbClr val="ECFDF5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Autoestima y motivación</a:t>
              </a:r>
              <a:endParaRPr b="0" sz="950">
                <a:solidFill>
                  <a:srgbClr val="047857"/>
                </a:solidFill>
                <a:highlight>
                  <a:srgbClr val="ECFDF5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50">
                  <a:solidFill>
                    <a:srgbClr val="047857"/>
                  </a:solidFill>
                  <a:highlight>
                    <a:srgbClr val="ECFDF5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Participación ciudadana</a:t>
              </a:r>
              <a:endParaRPr b="0" sz="950">
                <a:solidFill>
                  <a:srgbClr val="047857"/>
                </a:solidFill>
                <a:highlight>
                  <a:srgbClr val="ECFDF5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50">
                  <a:solidFill>
                    <a:srgbClr val="047857"/>
                  </a:solidFill>
                  <a:highlight>
                    <a:srgbClr val="ECFDF5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Vida saludable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/>
        </p:nvSpPr>
        <p:spPr>
          <a:xfrm>
            <a:off x="381000" y="333375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respecto al objetivo: definición de la variable objetivo (target binario)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1143000" y="1333500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D97706"/>
                </a:solidFill>
                <a:latin typeface="Raleway"/>
                <a:ea typeface="Raleway"/>
                <a:cs typeface="Raleway"/>
                <a:sym typeface="Raleway"/>
              </a:rPr>
              <a:t>Insuficiente</a:t>
            </a:r>
            <a:endParaRPr b="1" sz="1300">
              <a:solidFill>
                <a:srgbClr val="D9770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64748B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1.075 - 75,2%</a:t>
            </a:r>
            <a:endParaRPr b="0" sz="1000">
              <a:solidFill>
                <a:srgbClr val="64748B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1143000" y="2143125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Elemental</a:t>
            </a:r>
            <a:endParaRPr b="1" sz="13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64748B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339 - 23,7%</a:t>
            </a:r>
            <a:endParaRPr b="0" sz="1000">
              <a:solidFill>
                <a:srgbClr val="64748B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1143000" y="2952750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Adecuado</a:t>
            </a:r>
            <a:endParaRPr b="1" sz="13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64748B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15 - 1,0%</a:t>
            </a:r>
            <a:endParaRPr b="0" sz="1000">
              <a:solidFill>
                <a:srgbClr val="64748B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6000750" y="1333500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Insuficiente</a:t>
            </a:r>
            <a:endParaRPr b="1"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EF3C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1.075 - 75,2%</a:t>
            </a:r>
            <a:endParaRPr b="0" sz="1000">
              <a:solidFill>
                <a:srgbClr val="FEF3C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6000750" y="2543175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Elemental o adecuado</a:t>
            </a:r>
            <a:endParaRPr b="1" sz="1203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925">
                <a:solidFill>
                  <a:srgbClr val="DBEAFE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354 - 24,8%</a:t>
            </a:r>
            <a:endParaRPr b="0" sz="925">
              <a:solidFill>
                <a:srgbClr val="DBEAFE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cxnSp>
        <p:nvCxnSpPr>
          <p:cNvPr id="227" name="Google Shape;227;p30"/>
          <p:cNvCxnSpPr>
            <a:stCxn id="223" idx="3"/>
            <a:endCxn id="226" idx="1"/>
          </p:cNvCxnSpPr>
          <p:nvPr/>
        </p:nvCxnSpPr>
        <p:spPr>
          <a:xfrm>
            <a:off x="3143100" y="2466975"/>
            <a:ext cx="2857800" cy="400200"/>
          </a:xfrm>
          <a:prstGeom prst="straightConnector1">
            <a:avLst/>
          </a:prstGeom>
          <a:noFill/>
          <a:ln cap="flat" cmpd="sng" w="9525">
            <a:solidFill>
              <a:srgbClr val="2563E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>
            <a:stCxn id="224" idx="3"/>
            <a:endCxn id="226" idx="1"/>
          </p:cNvCxnSpPr>
          <p:nvPr/>
        </p:nvCxnSpPr>
        <p:spPr>
          <a:xfrm flipH="1" rot="10800000">
            <a:off x="3143100" y="2867100"/>
            <a:ext cx="2857800" cy="409500"/>
          </a:xfrm>
          <a:prstGeom prst="straightConnector1">
            <a:avLst/>
          </a:prstGeom>
          <a:noFill/>
          <a:ln cap="flat" cmpd="sng" w="9525">
            <a:solidFill>
              <a:srgbClr val="2563E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>
            <a:stCxn id="222" idx="3"/>
            <a:endCxn id="225" idx="1"/>
          </p:cNvCxnSpPr>
          <p:nvPr/>
        </p:nvCxnSpPr>
        <p:spPr>
          <a:xfrm>
            <a:off x="3143100" y="1657350"/>
            <a:ext cx="2857800" cy="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0"/>
          <p:cNvSpPr txBox="1"/>
          <p:nvPr/>
        </p:nvSpPr>
        <p:spPr>
          <a:xfrm>
            <a:off x="571500" y="4000500"/>
            <a:ext cx="3905400" cy="51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42875" spcFirstLastPara="1" rIns="142875" wrap="square" tIns="95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50">
                <a:solidFill>
                  <a:srgbClr val="1E293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GSE medio y bajo representa el </a:t>
            </a:r>
            <a:r>
              <a:rPr b="1" lang="es-419" sz="105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46% de la matrícula</a:t>
            </a:r>
            <a:r>
              <a:rPr b="0" lang="es-419" sz="1050">
                <a:solidFill>
                  <a:srgbClr val="1E293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a nivel nacional (GSE bajo 17,1% + medio-bajo 29,3%)</a:t>
            </a:r>
            <a:endParaRPr b="0" sz="1050">
              <a:solidFill>
                <a:srgbClr val="1E293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4667250" y="4000500"/>
            <a:ext cx="3905400" cy="51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42875" spcFirstLastPara="1" rIns="142875" wrap="square" tIns="95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1 de cada 4</a:t>
            </a:r>
            <a:r>
              <a:rPr b="0" lang="es-419" sz="1050">
                <a:solidFill>
                  <a:srgbClr val="1E293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supera el nivel insuficiente (354 de 1.429 (24,8%))</a:t>
            </a:r>
            <a:endParaRPr b="0" sz="1050">
              <a:solidFill>
                <a:srgbClr val="1E293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</a:t>
            </a: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respecto al objetivo: poder discriminante univariado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237" name="Google Shape;237;p31"/>
          <p:cNvGraphicFramePr/>
          <p:nvPr/>
        </p:nvGraphicFramePr>
        <p:xfrm>
          <a:off x="266725" y="1496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2458325"/>
                <a:gridCol w="898500"/>
                <a:gridCol w="386850"/>
                <a:gridCol w="711275"/>
                <a:gridCol w="599000"/>
              </a:tblGrid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Variable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</a:t>
                      </a: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con promedio matem</a:t>
                      </a: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áticas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AUC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Cohen's d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Sentido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Clima y convivencia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364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704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0.76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Tasa de asistencia 2°M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329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697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0.68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Autoestima y motivación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322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684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0.70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Participación y formación ciudadana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306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681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0.67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Hábitos de vida saludable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220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635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0.48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Estereotipos de género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-0.240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629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-0.47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inverso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IVE media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-0.141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596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-0.25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inverso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docentes tramo avanzado o superior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-0.033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539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-0.12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sin señal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31"/>
          <p:cNvSpPr txBox="1"/>
          <p:nvPr/>
        </p:nvSpPr>
        <p:spPr>
          <a:xfrm>
            <a:off x="5554950" y="1824075"/>
            <a:ext cx="33987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clima escolar es el mejor predictor individual 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AUC 0,704 y la mayor diferencia entre grupos (d = 0,76): los establecimientos que superan el nivel insuficiente promedian 77,6 puntos en convivencia frente a 74,5 de los que no lo superan.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asistencia es la variable de proceso más fuerte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AUC 0,697. La brecha es de casi 4 puntos porcentuales de asistencia anual: 88,7% contra 85,0%.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estereotipos de género operan en sentido inverso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mayor presencia de creencias estereotipadas entre los estudiantes, menor probabilidad de superar el nivel (r = −0,240).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tramo de carrera docente no discrimina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AUC 0,539, prácticamente azar.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5554950" y="1089575"/>
            <a:ext cx="3284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Ninguna variable predice por sí sola: </a:t>
            </a:r>
            <a:r>
              <a:rPr lang="es-419" sz="11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AUC se mueven entre 0,54 y 0,70: capacidad discriminante moderada</a:t>
            </a:r>
            <a:endParaRPr sz="11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</a:t>
            </a: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respecto al objetivo: variables categ</a:t>
            </a: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óricas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245" name="Google Shape;245;p32"/>
          <p:cNvGraphicFramePr/>
          <p:nvPr/>
        </p:nvGraphicFramePr>
        <p:xfrm>
          <a:off x="304800" y="166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878225"/>
                <a:gridCol w="1177975"/>
                <a:gridCol w="422300"/>
                <a:gridCol w="763925"/>
                <a:gridCol w="1048250"/>
                <a:gridCol w="7766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Dimensión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Categoría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sobre el corte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Puntaje medio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Cramer's V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3143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Dependencia</a:t>
                      </a:r>
                      <a:endParaRPr b="1"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Part. subvencionado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763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34.5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244.2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241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Municipal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546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14.3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230.9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SLEP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120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10.8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230.9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GSE</a:t>
                      </a:r>
                      <a:endParaRPr b="1"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Medio bajo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804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33.0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244.4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213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Bajo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625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14.2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229.8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Zona</a:t>
                      </a:r>
                      <a:endParaRPr b="1"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Urbano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1307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25.0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238.4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</a:t>
                      </a: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16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Rural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122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22.1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233.6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32"/>
          <p:cNvSpPr txBox="1"/>
          <p:nvPr/>
        </p:nvSpPr>
        <p:spPr>
          <a:xfrm>
            <a:off x="5570175" y="1229700"/>
            <a:ext cx="3398700" cy="3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dependencia administrativa es la variable categórica más asociada al logro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 tercio de los particulares subvencionados supera el nivel insuficiente (34,5%), frente a uno de cada siete municipales (14,3%) y uno de cada nueve SLEP (10,8%)</a:t>
            </a: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GSE sigue discriminando dentro del grupo objetivo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Aunque la base ya está restringida a los dos grupos más bajos, la brecha entre medio-bajo (33,0%) y bajo (14,2%) es de más del doble</a:t>
            </a: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diferencia entre urbano y rural no aporta información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Rural 22,1% y urbano 25,0%, una diferencia dentro del margen esperable dado que solo hay 122 establecimientos rurales</a:t>
            </a: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tramo de carrera docente no discrimina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AUC 0,539, prácticamente azar.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3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5326375" y="737699"/>
            <a:ext cx="3604248" cy="3183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3"/>
          <p:cNvSpPr/>
          <p:nvPr/>
        </p:nvSpPr>
        <p:spPr>
          <a:xfrm>
            <a:off x="6469375" y="1224025"/>
            <a:ext cx="861000" cy="868800"/>
          </a:xfrm>
          <a:prstGeom prst="roundRect">
            <a:avLst>
              <a:gd fmla="val 16667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325" y="3561750"/>
            <a:ext cx="3467101" cy="1536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33"/>
          <p:cNvGrpSpPr/>
          <p:nvPr/>
        </p:nvGrpSpPr>
        <p:grpSpPr>
          <a:xfrm>
            <a:off x="381000" y="1171575"/>
            <a:ext cx="4610250" cy="1905000"/>
            <a:chOff x="381000" y="1171575"/>
            <a:chExt cx="4610250" cy="1905000"/>
          </a:xfrm>
        </p:grpSpPr>
        <p:sp>
          <p:nvSpPr>
            <p:cNvPr id="255" name="Google Shape;255;p33"/>
            <p:cNvSpPr/>
            <p:nvPr/>
          </p:nvSpPr>
          <p:spPr>
            <a:xfrm>
              <a:off x="381000" y="121920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3"/>
            <p:cNvSpPr txBox="1"/>
            <p:nvPr/>
          </p:nvSpPr>
          <p:spPr>
            <a:xfrm>
              <a:off x="514350" y="1171575"/>
              <a:ext cx="4476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Alta correlación entre IDPS</a:t>
              </a:r>
              <a:endParaRPr b="1" sz="130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Las correlaciones entre los cuatro indicadores van de 0,69 a 0,89. Aunque son constructos distintos por diseño, en la práctica las escuelas que puntúan alto en uno puntúan alto en todos.</a:t>
              </a:r>
              <a:endParaRPr b="0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En clustering, incluir los cuatro aportaría cuatro veces la misma dimensión al cálculo de distancias. En clasificación, los coeficientes se reparten de forma inestable entre variables casi idénticas y dejan de ser interpretables.</a:t>
              </a:r>
              <a:endParaRPr b="0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57" name="Google Shape;257;p33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Selección de variables: un indicador de IDPS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258" name="Google Shape;258;p33"/>
          <p:cNvGrpSpPr/>
          <p:nvPr/>
        </p:nvGrpSpPr>
        <p:grpSpPr>
          <a:xfrm>
            <a:off x="381000" y="3219450"/>
            <a:ext cx="4610250" cy="1619100"/>
            <a:chOff x="381000" y="3219450"/>
            <a:chExt cx="4610250" cy="1619100"/>
          </a:xfrm>
        </p:grpSpPr>
        <p:sp>
          <p:nvSpPr>
            <p:cNvPr id="259" name="Google Shape;259;p33"/>
            <p:cNvSpPr/>
            <p:nvPr/>
          </p:nvSpPr>
          <p:spPr>
            <a:xfrm>
              <a:off x="381000" y="3267075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3"/>
            <p:cNvSpPr txBox="1"/>
            <p:nvPr/>
          </p:nvSpPr>
          <p:spPr>
            <a:xfrm>
              <a:off x="514350" y="3219450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Por qué clima y convivencia escolar</a:t>
              </a:r>
              <a:endParaRPr b="1" sz="130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Es el factor de proceso que la literatura sobre escuelas efectivas asocia al logro académico. Es la dimensión más accionable desde la gestión escolar, y encabeza el poder discriminante entre los cuatro con un </a:t>
              </a:r>
              <a:r>
                <a:rPr b="1" lang="es-419" sz="105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AUC de 0,704</a:t>
              </a: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, manteniendo la primera posición en el 95% de las réplicas (1.000).</a:t>
              </a:r>
              <a:endParaRPr b="0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/>
          <p:nvPr/>
        </p:nvSpPr>
        <p:spPr>
          <a:xfrm>
            <a:off x="2314200" y="3891475"/>
            <a:ext cx="4432200" cy="1130400"/>
          </a:xfrm>
          <a:prstGeom prst="roundRect">
            <a:avLst>
              <a:gd fmla="val 4615" name="adj"/>
            </a:avLst>
          </a:prstGeom>
          <a:solidFill>
            <a:srgbClr val="F9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4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¿Cuál es el perfil de estas escuelas?</a:t>
            </a:r>
            <a:r>
              <a:rPr b="1"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67" name="Google Shape;267;p34"/>
          <p:cNvGrpSpPr/>
          <p:nvPr/>
        </p:nvGrpSpPr>
        <p:grpSpPr>
          <a:xfrm>
            <a:off x="381000" y="1047750"/>
            <a:ext cx="8382000" cy="2679650"/>
            <a:chOff x="381000" y="1047750"/>
            <a:chExt cx="8382000" cy="2679650"/>
          </a:xfrm>
        </p:grpSpPr>
        <p:sp>
          <p:nvSpPr>
            <p:cNvPr id="268" name="Google Shape;268;p34"/>
            <p:cNvSpPr/>
            <p:nvPr/>
          </p:nvSpPr>
          <p:spPr>
            <a:xfrm>
              <a:off x="381000" y="1047750"/>
              <a:ext cx="4000500" cy="1410600"/>
            </a:xfrm>
            <a:prstGeom prst="roundRect">
              <a:avLst>
                <a:gd fmla="val 3529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4"/>
            <p:cNvSpPr/>
            <p:nvPr/>
          </p:nvSpPr>
          <p:spPr>
            <a:xfrm>
              <a:off x="381000" y="104775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F9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381000" y="2596950"/>
              <a:ext cx="4000500" cy="1130400"/>
            </a:xfrm>
            <a:prstGeom prst="roundRect">
              <a:avLst>
                <a:gd fmla="val 3529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4"/>
            <p:cNvSpPr/>
            <p:nvPr/>
          </p:nvSpPr>
          <p:spPr>
            <a:xfrm>
              <a:off x="381000" y="285750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F9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4"/>
            <p:cNvSpPr/>
            <p:nvPr/>
          </p:nvSpPr>
          <p:spPr>
            <a:xfrm>
              <a:off x="4572000" y="1047750"/>
              <a:ext cx="4191000" cy="1410600"/>
            </a:xfrm>
            <a:prstGeom prst="roundRect">
              <a:avLst>
                <a:gd fmla="val 2857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4"/>
            <p:cNvSpPr/>
            <p:nvPr/>
          </p:nvSpPr>
          <p:spPr>
            <a:xfrm>
              <a:off x="4572000" y="104775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F9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4572000" y="2597000"/>
              <a:ext cx="4191000" cy="1130400"/>
            </a:xfrm>
            <a:prstGeom prst="roundRect">
              <a:avLst>
                <a:gd fmla="val 4615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4572000" y="323850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F9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6" name="Google Shape;2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285875"/>
            <a:ext cx="476400" cy="47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34"/>
          <p:cNvGrpSpPr/>
          <p:nvPr/>
        </p:nvGrpSpPr>
        <p:grpSpPr>
          <a:xfrm>
            <a:off x="1238250" y="1157226"/>
            <a:ext cx="7334250" cy="2609554"/>
            <a:chOff x="1238250" y="1157226"/>
            <a:chExt cx="7334250" cy="2609554"/>
          </a:xfrm>
        </p:grpSpPr>
        <p:sp>
          <p:nvSpPr>
            <p:cNvPr id="278" name="Google Shape;278;p34"/>
            <p:cNvSpPr txBox="1"/>
            <p:nvPr/>
          </p:nvSpPr>
          <p:spPr>
            <a:xfrm>
              <a:off x="1238250" y="1163906"/>
              <a:ext cx="2952900" cy="11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Objetivo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Identificar perfiles de establecimientos de NSE bajo y medio-bajo según sus características de proceso y contexto, para luego ver qué perfiles se asocian a mejores logros.</a:t>
              </a:r>
              <a:endParaRPr b="0" sz="110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79" name="Google Shape;279;p34"/>
            <p:cNvSpPr txBox="1"/>
            <p:nvPr/>
          </p:nvSpPr>
          <p:spPr>
            <a:xfrm>
              <a:off x="1238250" y="2706454"/>
              <a:ext cx="2952900" cy="9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Entidad a agrupar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Establecimiento educacional de enseñanza media (llave: RBD), filtrado al subconjunto de NSE bajo y medio-bajo.</a:t>
              </a:r>
              <a:endParaRPr b="0" sz="110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0" name="Google Shape;280;p34"/>
            <p:cNvSpPr txBox="1"/>
            <p:nvPr/>
          </p:nvSpPr>
          <p:spPr>
            <a:xfrm>
              <a:off x="4762500" y="1157226"/>
              <a:ext cx="3810000" cy="12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Variables de agrupación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IDPS: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convivencia escolar, autoestima académica, participación, hábitos de vida saludable.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Creencias y estereotipos de género.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Los IDPS son indicadores sintéticos continuos (escala 0–100), construidos por la Agencia de Calidad de la Educación.</a:t>
              </a:r>
              <a:endParaRPr i="1" sz="9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1" name="Google Shape;281;p34"/>
            <p:cNvSpPr txBox="1"/>
            <p:nvPr/>
          </p:nvSpPr>
          <p:spPr>
            <a:xfrm>
              <a:off x="4762500" y="2766580"/>
              <a:ext cx="3810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10B98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Algoritmos</a:t>
              </a:r>
              <a:endParaRPr b="1" sz="130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K-Means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(aproximación inicial)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Clustering jerárquico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(estructura y dendrogramas)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Gaussian Mixture Models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45720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282" name="Google Shape;28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213" y="2729850"/>
            <a:ext cx="556975" cy="56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 txBox="1"/>
          <p:nvPr/>
        </p:nvSpPr>
        <p:spPr>
          <a:xfrm>
            <a:off x="2385440" y="3901050"/>
            <a:ext cx="43896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A992C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Selección de k y evaluación:</a:t>
            </a:r>
            <a:endParaRPr b="1" sz="1300">
              <a:solidFill>
                <a:srgbClr val="A992C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Source Sans Pro"/>
              <a:buChar char="●"/>
            </a:pPr>
            <a:r>
              <a:rPr lang="es-419" sz="105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Cuantitativa: silhouette, Davies-Bouldin, Calinski-Harabasz.</a:t>
            </a:r>
            <a:endParaRPr sz="105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Source Sans Pro"/>
              <a:buChar char="●"/>
            </a:pPr>
            <a:r>
              <a:rPr lang="es-419" sz="105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Estabilidad: comparación entre semillas y número de clusters.</a:t>
            </a:r>
            <a:endParaRPr sz="105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Source Sans Pro"/>
              <a:buChar char="●"/>
            </a:pPr>
            <a:r>
              <a:rPr lang="es-419" sz="105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Interpretabilidad: medias, medianas y distribuciones por cluster.</a:t>
            </a:r>
            <a:endParaRPr sz="105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614400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Tarea de clustering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¿Qué distingue a las escuelas que rinden mejor?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90" name="Google Shape;290;p35"/>
          <p:cNvGrpSpPr/>
          <p:nvPr/>
        </p:nvGrpSpPr>
        <p:grpSpPr>
          <a:xfrm>
            <a:off x="381000" y="1000125"/>
            <a:ext cx="8382000" cy="4000500"/>
            <a:chOff x="381000" y="1000125"/>
            <a:chExt cx="8382000" cy="4000500"/>
          </a:xfrm>
        </p:grpSpPr>
        <p:sp>
          <p:nvSpPr>
            <p:cNvPr id="291" name="Google Shape;291;p35"/>
            <p:cNvSpPr/>
            <p:nvPr/>
          </p:nvSpPr>
          <p:spPr>
            <a:xfrm>
              <a:off x="381000" y="1000125"/>
              <a:ext cx="4000500" cy="1381200"/>
            </a:xfrm>
            <a:prstGeom prst="roundRect">
              <a:avLst>
                <a:gd fmla="val 3448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381000" y="2524125"/>
              <a:ext cx="4000500" cy="1190700"/>
            </a:xfrm>
            <a:prstGeom prst="roundRect">
              <a:avLst>
                <a:gd fmla="val 4000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4572000" y="1000125"/>
              <a:ext cx="4191000" cy="1381200"/>
            </a:xfrm>
            <a:prstGeom prst="roundRect">
              <a:avLst>
                <a:gd fmla="val 3448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4572000" y="2524125"/>
              <a:ext cx="4191000" cy="1190700"/>
            </a:xfrm>
            <a:prstGeom prst="roundRect">
              <a:avLst>
                <a:gd fmla="val 4000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2286000" y="3857625"/>
              <a:ext cx="4572000" cy="1143000"/>
            </a:xfrm>
            <a:prstGeom prst="roundRect">
              <a:avLst>
                <a:gd fmla="val 4166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35"/>
          <p:cNvGrpSpPr/>
          <p:nvPr/>
        </p:nvGrpSpPr>
        <p:grpSpPr>
          <a:xfrm>
            <a:off x="523875" y="1095375"/>
            <a:ext cx="8096400" cy="3810000"/>
            <a:chOff x="523875" y="1095375"/>
            <a:chExt cx="8096400" cy="3810000"/>
          </a:xfrm>
        </p:grpSpPr>
        <p:sp>
          <p:nvSpPr>
            <p:cNvPr id="297" name="Google Shape;297;p35"/>
            <p:cNvSpPr txBox="1"/>
            <p:nvPr/>
          </p:nvSpPr>
          <p:spPr>
            <a:xfrm>
              <a:off x="523875" y="1095375"/>
              <a:ext cx="3714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Objetivo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Identificar qué factores distinguen los niveles de logro SIMCE Matemática entre establecimientos de NSE bajo y medio-bajo.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1" lang="es-419" sz="950">
                  <a:solidFill>
                    <a:srgbClr val="EF4444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Desafío de desbalance:</a:t>
              </a:r>
              <a:r>
                <a:rPr b="0"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</a:t>
              </a:r>
              <a:r>
                <a:rPr b="0"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as clases están fuertemente desbalanceadas (≈7</a:t>
              </a:r>
              <a:r>
                <a:rPr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5</a:t>
              </a:r>
              <a:r>
                <a:rPr b="0"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% insuficiente; minoría en elemental/adecuado).</a:t>
              </a:r>
              <a:endParaRPr b="0" i="1" sz="9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8" name="Google Shape;298;p35"/>
            <p:cNvSpPr txBox="1"/>
            <p:nvPr/>
          </p:nvSpPr>
          <p:spPr>
            <a:xfrm>
              <a:off x="523875" y="2619375"/>
              <a:ext cx="3714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Variable objetivo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Lo que se busca predecir: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n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ivel de logro SIMCE Matemática de 2° medio en dos clases: 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insuficiente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y 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elemental o adecuado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, según los Estándares de Aprendizaje de la Agencia de Calidad de la Educación.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9" name="Google Shape;299;p35"/>
            <p:cNvSpPr txBox="1"/>
            <p:nvPr/>
          </p:nvSpPr>
          <p:spPr>
            <a:xfrm>
              <a:off x="4714875" y="1095375"/>
              <a:ext cx="3905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Modelos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Baseline: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clasificador de clase mayoritaria (predecir siempre "insuficiente"). Vara m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ínima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Interpretable: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regresión logística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Predictivos: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Random Forest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(captura efectos que la logística no puede)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00" name="Google Shape;300;p35"/>
            <p:cNvSpPr txBox="1"/>
            <p:nvPr/>
          </p:nvSpPr>
          <p:spPr>
            <a:xfrm>
              <a:off x="4714875" y="2619375"/>
              <a:ext cx="3905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Variables predictoras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s-419" sz="1050">
                  <a:solidFill>
                    <a:srgbClr val="556378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Clima y convivencia, estereotipos de género, IVE, Asistencia 2° medio, % docentes en tramo avanzado o superior, </a:t>
              </a:r>
              <a:r>
                <a:rPr lang="es-419" sz="1050">
                  <a:solidFill>
                    <a:srgbClr val="8B5CF6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Part. subvencionado, SLEP (variables categóricas, referencia: Municipal)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01" name="Google Shape;301;p35"/>
            <p:cNvSpPr txBox="1"/>
            <p:nvPr/>
          </p:nvSpPr>
          <p:spPr>
            <a:xfrm>
              <a:off x="2428875" y="3952875"/>
              <a:ext cx="4286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50">
                  <a:solidFill>
                    <a:srgbClr val="10B98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Evaluación</a:t>
              </a:r>
              <a:endParaRPr b="1" sz="10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Métricas: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AUC,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matriz de confusión, precisión, recall, F1 (macro) y balanced accuracy.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Todos los modelos se comparan directamente contra el baseline establecido.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302" name="Google Shape;3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125" y="1047200"/>
            <a:ext cx="272025" cy="2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4250" y="1083087"/>
            <a:ext cx="200250" cy="2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/>
          <p:nvPr/>
        </p:nvSpPr>
        <p:spPr>
          <a:xfrm>
            <a:off x="614400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Tarea de predicción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Ajuste de hiperparámetros y tratamiento del desbalance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310" name="Google Shape;310;p36"/>
          <p:cNvGrpSpPr/>
          <p:nvPr/>
        </p:nvGrpSpPr>
        <p:grpSpPr>
          <a:xfrm>
            <a:off x="381000" y="1190625"/>
            <a:ext cx="4038750" cy="714300"/>
            <a:chOff x="381000" y="1190625"/>
            <a:chExt cx="4038750" cy="714300"/>
          </a:xfrm>
        </p:grpSpPr>
        <p:sp>
          <p:nvSpPr>
            <p:cNvPr id="311" name="Google Shape;311;p36"/>
            <p:cNvSpPr/>
            <p:nvPr/>
          </p:nvSpPr>
          <p:spPr>
            <a:xfrm>
              <a:off x="381000" y="1238250"/>
              <a:ext cx="38100" cy="571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6"/>
            <p:cNvSpPr txBox="1"/>
            <p:nvPr/>
          </p:nvSpPr>
          <p:spPr>
            <a:xfrm>
              <a:off x="514350" y="1190625"/>
              <a:ext cx="3905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Método y desbalance</a:t>
              </a:r>
              <a:endParaRPr b="1" sz="111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18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GridSearchCV: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Exhaustivo con StratifiedKFold (k=5) optimizando AUC-ROC. Mantiene 24,8% de clase positiva por pliegue.</a:t>
              </a:r>
              <a:endParaRPr sz="1018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s-419" sz="1018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Tratamiento: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1" lang="es-419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class_weight="</a:t>
              </a:r>
              <a:r>
                <a:rPr b="1" lang="es-419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balanced</a:t>
              </a:r>
              <a:r>
                <a:rPr b="1" lang="es-419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sin remuestreo.</a:t>
              </a:r>
              <a:endParaRPr sz="1018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13" name="Google Shape;313;p36"/>
          <p:cNvGrpSpPr/>
          <p:nvPr/>
        </p:nvGrpSpPr>
        <p:grpSpPr>
          <a:xfrm>
            <a:off x="4469625" y="1140891"/>
            <a:ext cx="4038750" cy="857400"/>
            <a:chOff x="4469625" y="1140891"/>
            <a:chExt cx="4038750" cy="857400"/>
          </a:xfrm>
        </p:grpSpPr>
        <p:sp>
          <p:nvSpPr>
            <p:cNvPr id="314" name="Google Shape;314;p36"/>
            <p:cNvSpPr/>
            <p:nvPr/>
          </p:nvSpPr>
          <p:spPr>
            <a:xfrm>
              <a:off x="4469625" y="1188516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6"/>
            <p:cNvSpPr txBox="1"/>
            <p:nvPr/>
          </p:nvSpPr>
          <p:spPr>
            <a:xfrm>
              <a:off x="4602975" y="1140891"/>
              <a:ext cx="3905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Regresión logística</a:t>
              </a:r>
              <a:endParaRPr b="1" sz="111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Barrido de </a:t>
              </a:r>
              <a:r>
                <a:rPr b="1" lang="es-419" sz="1018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 ∈ {0,01 · 0,1 · 1 · 10}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 El AUC es plano en todo el rango (0,7762 a 0,7769).</a:t>
              </a:r>
              <a:endParaRPr sz="1018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 fija </a:t>
              </a:r>
              <a:r>
                <a:rPr b="1" lang="es-419" sz="1018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 = 0,1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para evitar que los coeficientes se encojan y pierdan interpretabilidad.</a:t>
              </a:r>
              <a:endParaRPr sz="1018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16" name="Google Shape;316;p36"/>
          <p:cNvGrpSpPr/>
          <p:nvPr/>
        </p:nvGrpSpPr>
        <p:grpSpPr>
          <a:xfrm>
            <a:off x="352500" y="2153018"/>
            <a:ext cx="4038750" cy="1047900"/>
            <a:chOff x="352500" y="2153018"/>
            <a:chExt cx="4038750" cy="1047900"/>
          </a:xfrm>
        </p:grpSpPr>
        <p:sp>
          <p:nvSpPr>
            <p:cNvPr id="317" name="Google Shape;317;p36"/>
            <p:cNvSpPr/>
            <p:nvPr/>
          </p:nvSpPr>
          <p:spPr>
            <a:xfrm>
              <a:off x="352500" y="2200643"/>
              <a:ext cx="38100" cy="904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6"/>
            <p:cNvSpPr txBox="1"/>
            <p:nvPr/>
          </p:nvSpPr>
          <p:spPr>
            <a:xfrm>
              <a:off x="485850" y="2153018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3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Random Forest</a:t>
              </a:r>
              <a:endParaRPr b="1" sz="93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Evaluación de </a:t>
              </a:r>
              <a:r>
                <a:rPr b="1" lang="es-419" sz="1000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9 combinaciones</a:t>
              </a: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de max_depth × min_samples_leaf (300 árboles).</a:t>
              </a:r>
              <a:endParaRPr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• El mejor resultado: </a:t>
              </a:r>
              <a:r>
                <a:rPr b="1" lang="es-419" sz="853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max_depth=None</a:t>
              </a: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con </a:t>
              </a:r>
              <a:r>
                <a:rPr b="1" lang="es-419" sz="853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min_samples_leaf=15</a:t>
              </a: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→ </a:t>
              </a:r>
              <a:r>
                <a:rPr b="1" lang="es-419" sz="853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AUC 0,7838</a:t>
              </a: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sz="853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• Importa el tamaño de hoja, no la profundidad: con hoja = 1 el AUC cae a 0,7672.</a:t>
              </a:r>
              <a:endParaRPr sz="853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319" name="Google Shape;3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200" y="3108250"/>
            <a:ext cx="5489592" cy="19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Evaluación de los modelos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325" name="Google Shape;325;p37"/>
          <p:cNvGraphicFramePr/>
          <p:nvPr/>
        </p:nvGraphicFramePr>
        <p:xfrm>
          <a:off x="381000" y="111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2015200"/>
                <a:gridCol w="761125"/>
                <a:gridCol w="861325"/>
                <a:gridCol w="707700"/>
                <a:gridCol w="908075"/>
                <a:gridCol w="734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Modelo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AUC test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AUC 5-fold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D.E.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F1 macro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Bal. acc.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197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Baseline (clase mayoritaria)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0,500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0,500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0,000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0,429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0,500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Regresión logística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0,817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0,783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0,014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0,696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0,744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97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Random Forest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0,810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0,788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0,004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0,709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0,735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6" name="Google Shape;326;p37"/>
          <p:cNvSpPr txBox="1"/>
          <p:nvPr/>
        </p:nvSpPr>
        <p:spPr>
          <a:xfrm>
            <a:off x="381000" y="2170950"/>
            <a:ext cx="27186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 </a:t>
            </a:r>
            <a:r>
              <a:rPr b="1"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cifra que se reporta es el AUC de validación cruzada</a:t>
            </a: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no la del split único: 0,783 ± 0,014 la logística y 0,788 ± 0,004 el bosque.</a:t>
            </a:r>
            <a:endParaRPr sz="1150">
              <a:solidFill>
                <a:srgbClr val="16202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 </a:t>
            </a:r>
            <a:r>
              <a:rPr b="1"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diferencia entre los modelos cae dentro del margen de error.</a:t>
            </a: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Se mantiene la </a:t>
            </a:r>
            <a:r>
              <a:rPr b="1"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logística como modelo principal</a:t>
            </a: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por interpretabilidad.</a:t>
            </a:r>
            <a:endParaRPr sz="1150">
              <a:solidFill>
                <a:srgbClr val="16202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27" name="Google Shape;3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150" y="2170950"/>
            <a:ext cx="5786076" cy="209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Histograma de scores y selección del umbral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33" name="Google Shape;33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975" y="826895"/>
            <a:ext cx="4078800" cy="201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 txBox="1"/>
          <p:nvPr/>
        </p:nvSpPr>
        <p:spPr>
          <a:xfrm>
            <a:off x="227975" y="1212073"/>
            <a:ext cx="40788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 </a:t>
            </a:r>
            <a:r>
              <a:rPr b="1" lang="es-419" sz="10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Las dos distribuciones están desplazadas, pero superpuestas.</a:t>
            </a:r>
            <a:r>
              <a:rPr lang="es-419" sz="10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El modelo ordena bien a los establecimientos —eso mide el AUC— pero no existe un corte que separe las clases sin error. </a:t>
            </a:r>
            <a:endParaRPr sz="1000">
              <a:solidFill>
                <a:srgbClr val="16202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 </a:t>
            </a:r>
            <a:r>
              <a:rPr b="1" lang="es-419" sz="10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Barrido del umbral entre 0,30 y 0,70.</a:t>
            </a:r>
            <a:r>
              <a:rPr lang="es-419" sz="10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El F1 es máximo en </a:t>
            </a:r>
            <a:r>
              <a:rPr b="1" lang="es-419" sz="10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0,50</a:t>
            </a:r>
            <a:r>
              <a:rPr lang="es-419" sz="10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(0,589), con 0,60 casi empatado (0,588).</a:t>
            </a:r>
            <a:endParaRPr sz="1000">
              <a:solidFill>
                <a:srgbClr val="16202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35" name="Google Shape;33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955" y="2985908"/>
            <a:ext cx="3610045" cy="2010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6" name="Google Shape;336;p38"/>
          <p:cNvGraphicFramePr/>
          <p:nvPr/>
        </p:nvGraphicFramePr>
        <p:xfrm>
          <a:off x="338475" y="295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775400"/>
                <a:gridCol w="875000"/>
                <a:gridCol w="808650"/>
                <a:gridCol w="605350"/>
                <a:gridCol w="903900"/>
              </a:tblGrid>
              <a:tr h="24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Umbral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Precision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Recall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F1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Predichos +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16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0,411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0,854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0,555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185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0,45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0,444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0,798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0,570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160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0,50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0,479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0,764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0,589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142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0,55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0,513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0,663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0,578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115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0,60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0,591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0,584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0,588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88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Métricas de efectividad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42" name="Google Shape;3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50" y="1456225"/>
            <a:ext cx="2739800" cy="290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3" name="Google Shape;343;p39"/>
          <p:cNvGraphicFramePr/>
          <p:nvPr/>
        </p:nvGraphicFramePr>
        <p:xfrm>
          <a:off x="3632625" y="162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2109975"/>
                <a:gridCol w="661575"/>
                <a:gridCol w="585225"/>
                <a:gridCol w="622425"/>
                <a:gridCol w="497550"/>
              </a:tblGrid>
              <a:tr h="30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Clase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Precis.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Recall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F1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Insuficiente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0,903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0,725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0,804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269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Elemental o adecuado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0,479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0,764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0,589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89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Macro promedio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0,691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0,744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0,696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358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/>
        </p:nvSpPr>
        <p:spPr>
          <a:xfrm>
            <a:off x="285750" y="1095375"/>
            <a:ext cx="4286400" cy="33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Clima y dependencia administrativa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 la logística mandan el clima escolar y la dependencia. Clima y convivencia </a:t>
            </a:r>
            <a:r>
              <a:rPr b="1" lang="es-419" sz="10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0,099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particular subvencionado </a:t>
            </a:r>
            <a:r>
              <a:rPr b="1" lang="es-419" sz="10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0,086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asistencia </a:t>
            </a:r>
            <a:r>
              <a:rPr b="1" lang="es-419" sz="10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0,063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5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Lectura de odds ratios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Lectura sustantiva: convivencia </a:t>
            </a:r>
            <a:r>
              <a:rPr b="1" lang="es-419" sz="1050">
                <a:solidFill>
                  <a:srgbClr val="3B82F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1,69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y asistencia </a:t>
            </a:r>
            <a:r>
              <a:rPr b="1" lang="es-419" sz="1050">
                <a:solidFill>
                  <a:srgbClr val="3B82F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1,64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por desv. estándar. Los estereotipos de género juegan en contra (</a:t>
            </a:r>
            <a:r>
              <a:rPr b="1" lang="es-419" sz="1050">
                <a:solidFill>
                  <a:srgbClr val="EF444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0,72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 y el IVE también (</a:t>
            </a:r>
            <a:r>
              <a:rPr b="1" lang="es-419" sz="1050">
                <a:solidFill>
                  <a:srgbClr val="EF444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0,75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).</a:t>
            </a:r>
            <a:endParaRPr sz="105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Docentes en tramo avanzado o experto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% de docentes en tramo avanzado </a:t>
            </a:r>
            <a:r>
              <a:rPr b="0" lang="es-419" sz="10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 aporta</a:t>
            </a:r>
            <a:r>
              <a:rPr lang="es-419" sz="10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(0,009 ± 0,010, indistinguible de cero).</a:t>
            </a:r>
            <a:endParaRPr sz="1050">
              <a:solidFill>
                <a:srgbClr val="64748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Análisis SHAP (Random Forest)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Reordena sin cambiar los factores asociados: asistencia </a:t>
            </a:r>
            <a:r>
              <a:rPr b="1" lang="es-419" sz="10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0,100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convivencia </a:t>
            </a:r>
            <a:r>
              <a:rPr b="1" lang="es-419" sz="10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0,076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particular subvencionado e IVE </a:t>
            </a:r>
            <a:r>
              <a:rPr b="1" lang="es-419" sz="10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0,061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5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Efectos con curva en S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asistencia pesa fuerte bajo 0,80 y se aplana sobre 0,90.</a:t>
            </a:r>
            <a:endParaRPr sz="105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49" name="Google Shape;349;p40"/>
          <p:cNvPicPr preferRelativeResize="0"/>
          <p:nvPr/>
        </p:nvPicPr>
        <p:blipFill rotWithShape="1">
          <a:blip r:embed="rId4">
            <a:alphaModFix/>
          </a:blip>
          <a:srcRect b="219" l="0" r="0" t="219"/>
          <a:stretch/>
        </p:blipFill>
        <p:spPr>
          <a:xfrm>
            <a:off x="4762500" y="904875"/>
            <a:ext cx="4000500" cy="18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0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953000" y="2809875"/>
            <a:ext cx="3619500" cy="20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0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¿Qué factores se asocian al rendimiento?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Revisión de casos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357" name="Google Shape;357;p41"/>
          <p:cNvGraphicFramePr/>
          <p:nvPr/>
        </p:nvGraphicFramePr>
        <p:xfrm>
          <a:off x="428438" y="118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1468700"/>
                <a:gridCol w="479475"/>
                <a:gridCol w="699775"/>
                <a:gridCol w="838200"/>
                <a:gridCol w="809625"/>
                <a:gridCol w="866775"/>
                <a:gridCol w="866775"/>
              </a:tblGrid>
              <a:tr h="16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Resultado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Conviv.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Asist.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IVE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Género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Puntaje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Acierto (insuficiente)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195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73,2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0,84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0,90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+0,04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224,5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Acierto (supera)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68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78,8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0,90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0,87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−0,13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271,9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Falso negativo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21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76,1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0,86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0,90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+0,11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267,0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Falso positivo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77,5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−0,09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232,5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" name="Google Shape;358;p41"/>
          <p:cNvSpPr txBox="1"/>
          <p:nvPr/>
        </p:nvSpPr>
        <p:spPr>
          <a:xfrm>
            <a:off x="428450" y="2231075"/>
            <a:ext cx="5103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 </a:t>
            </a:r>
            <a:r>
              <a:rPr b="1" lang="es-419" sz="12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21 falsos negativos son el centro de la pregunta de investigación.</a:t>
            </a:r>
            <a:r>
              <a:rPr lang="es-419" sz="12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Promedian 267 puntos con condiciones de contexto que predicen fracaso.</a:t>
            </a:r>
            <a:endParaRPr sz="1200">
              <a:solidFill>
                <a:srgbClr val="16202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359" name="Google Shape;359;p41"/>
          <p:cNvGraphicFramePr/>
          <p:nvPr/>
        </p:nvGraphicFramePr>
        <p:xfrm>
          <a:off x="381000" y="300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2114375"/>
                <a:gridCol w="1101425"/>
                <a:gridCol w="726125"/>
                <a:gridCol w="668525"/>
                <a:gridCol w="734700"/>
              </a:tblGrid>
              <a:tr h="22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Falsos negativos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Comuna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Score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IVE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Puntaje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Liceo Bicent. de Excelencia Técnica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Loncoche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0,19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0,98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258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Liceo Industrial J. T. de Urmeneta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Coquimbo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0,22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0,93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267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Colegio Robinson Cabrera Beltrán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Retiro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0,29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0,97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282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/>
        </p:nvSpPr>
        <p:spPr>
          <a:xfrm>
            <a:off x="571500" y="857250"/>
            <a:ext cx="4762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00"/>
              </a:spcAft>
              <a:buNone/>
            </a:pPr>
            <a:r>
              <a:rPr lang="es-419" sz="3800">
                <a:solidFill>
                  <a:srgbClr val="D6B4F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¡Muchas gracias!</a:t>
            </a:r>
            <a:endParaRPr b="0" sz="2000">
              <a:solidFill>
                <a:srgbClr val="A992C4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6000750" y="857250"/>
            <a:ext cx="2286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D6B4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Taller de proyecto</a:t>
            </a:r>
            <a:endParaRPr b="1" sz="900">
              <a:solidFill>
                <a:srgbClr val="D6B4F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Grupo 4</a:t>
            </a:r>
            <a:endParaRPr b="1" sz="18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419" sz="800">
                <a:solidFill>
                  <a:srgbClr val="A992C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Integrantes</a:t>
            </a:r>
            <a:endParaRPr b="0" sz="800">
              <a:solidFill>
                <a:srgbClr val="A992C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Felipe Riquelme Becerra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Jorge Sepúlveda Sepúlveda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Manuel Sanhueza Moncada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Osvaldo Vázquez Ortega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Verónica Canales Guerrero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s-419"/>
              <a:t>Referencias bibliogr</a:t>
            </a:r>
            <a:r>
              <a:rPr lang="es-419"/>
              <a:t>áficas</a:t>
            </a:r>
            <a:endParaRPr/>
          </a:p>
        </p:txBody>
      </p:sp>
      <p:sp>
        <p:nvSpPr>
          <p:cNvPr id="371" name="Google Shape;371;p43"/>
          <p:cNvSpPr txBox="1"/>
          <p:nvPr/>
        </p:nvSpPr>
        <p:spPr>
          <a:xfrm>
            <a:off x="87325" y="1068425"/>
            <a:ext cx="9056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(2013).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Metodología de construcción de grupos socioeconómicos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Recuperado de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/>
              </a:rPr>
              <a:t>https://archivos.agenciaeducacion.cl/Metodologia_de_Construccion_de_Grupos_Socioeconomicos_Simce_2013.pdf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(2020).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Guía metodológica para el uso de datos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Recuperado de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https://archivos.agenciaeducacion.cl/Libro_Guia_Metodologica_Uso_de_Datos_2020.pdf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(2026).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Evaluaciones nacionales estandarizadas 2024: Informe técnico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Recuperado de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5"/>
              </a:rPr>
              <a:t>https://s3.us-east-1.amazonaws.com/archivos.agenciaeducacion.cl/Informe_Tecnico_2024.pdf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(2026).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Indicadores de desarrollo personal y social medidos en cuestionarios autorreportados: Informe técnico 2024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Recuperado de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6"/>
              </a:rPr>
              <a:t>https://s3.us-east-1.amazonaws.com/archivos.agenciaeducacion.cl/IDPS_Informe-tecnico-2024.pdf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(s.f.).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¿Por qué no se pueden entregar resultados individuales?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Recuperado de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8"/>
              </a:rPr>
              <a:t>https://www.agenciaeducacion.cl/</a:t>
            </a:r>
            <a:endParaRPr sz="1000" u="sng">
              <a:solidFill>
                <a:schemeClr val="hlink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(s.f.).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¿Qué comparaciones entre resultados Simce de un mismo año son incorrectas?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Recuperado de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10"/>
              </a:rPr>
              <a:t>https://www.agenciaeducacion.cl/</a:t>
            </a:r>
            <a:endParaRPr sz="1000" u="sng">
              <a:solidFill>
                <a:schemeClr val="hlink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Bellei, C., Muñoz, G., Pérez, L. M., &amp; Raczynski, D. (2004).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¿Quién dijo que no se puede? Escuelas efectivas en sectores de pobreza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UNICEF; Ministerio de Educación de Chile.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Cai, L., &amp; Zhu, Y. (2015). The challenges of data quality and data quality assessment in the big data era.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 Science Journal, 14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2.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12"/>
              </a:rPr>
              <a:t>https://doi.org/10.5334/dsj-2015-002</a:t>
            </a:r>
            <a:endParaRPr sz="1000" u="sng">
              <a:solidFill>
                <a:schemeClr val="hlink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 u="sng">
              <a:solidFill>
                <a:schemeClr val="hlink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s-419"/>
              <a:t>Referencias bibliográficas</a:t>
            </a:r>
            <a:endParaRPr/>
          </a:p>
        </p:txBody>
      </p:sp>
      <p:sp>
        <p:nvSpPr>
          <p:cNvPr id="377" name="Google Shape;377;p44"/>
          <p:cNvSpPr txBox="1"/>
          <p:nvPr/>
        </p:nvSpPr>
        <p:spPr>
          <a:xfrm>
            <a:off x="96050" y="1208200"/>
            <a:ext cx="89349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Carabaña, J. (2016). El Informe Coleman, 50 años después.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Revista de Sociología de la Educación-RASE, 9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(1), 9–21.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https://doi.org/10.7203/RASE.9.1.8400</a:t>
            </a:r>
            <a:endParaRPr sz="1000" u="sng">
              <a:solidFill>
                <a:schemeClr val="accent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Coleman, J. S., Campbell, E. Q., Hobson, C. J., McPartland, J., Mood, A. M., Weinfeld, F. D., &amp; York, R. (1966).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Equality of educational opportunity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U.S. Government Printing Office.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Del Río, M. F., Susperreguy, M. I., Strasser, K., Iturra, C., &amp; Gallardo, I. (2019).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Creencias sobre matemática y género de estudiantes, docentes y padres: Datos sensibles para el diseño de intervenciones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(Informe Final FONIDE, Proyecto FON1700003). Ministerio de Educación de Chile.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Gamoran, A., &amp; Long, D. A. (2006).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Equality of educational opportunity: A 40-year retrospective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(WCER Working Paper No. 2006-9). University of Wisconsin–Madison, Wisconsin Center for Education Research.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Laboratorio de Gobierno. (2025).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Agilizando la entrega del SIMCE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https://drive.google.com/file/d/1EbPf3O7McBetNWfGU2AJ_oTQv1C7RKcU/view</a:t>
            </a:r>
            <a:endParaRPr sz="1000" u="sng">
              <a:solidFill>
                <a:schemeClr val="accent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Manzi, J., Bogolasky, F., Gutiérrez, G., Grau, V., &amp; Volante, P. (2014).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Análisis sobre valoraciones, comprensión y uso del SIMCE por parte de directores escolares de establecimientos subvencionados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(Informe Final FONIDE F711269). Ministerio de Educación de Chile.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Tomaszewski, W., Xiang, N., &amp; Western, M. (2020). Student engagement as a mediator of the effects of socio-economic status on academic performance among secondary school students in Australia.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British Educational Research Journal, 46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(3), 610–630.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https://doi.org/10.1002/berj.3599</a:t>
            </a:r>
            <a:endParaRPr sz="1000" u="sng">
              <a:solidFill>
                <a:schemeClr val="accent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Treviño, E. (s.f.). Resultados individuales del SIMCE [Columna de opinión].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Tercera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https://www.latercera.com/diario-impreso/resultados-individuales-del-simce/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