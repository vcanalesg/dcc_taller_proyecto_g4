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desbalance 75/25 es el hecho que ordena todas las decisiones siguientes: descarta el accuracy como métrica, obliga a ponderar las clases y hace que el umbral de decisión sea una elección explícita y no el 0,5 por defecto.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curva plana de C no es un resultado pobre: dice que con siete predictoras y mil casos la regularización no es el cuello de botella. El techo lo pone la señal disponible, no el ajuste.</a:t>
            </a:r>
          </a:p>
          <a:p/>
          <a:p>
            <a:r>
              <a:t>OJO: la versión anterior de esta lámina mencionaba SMOTE y RandomizedSearchCV. No se usó ninguno de los 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preguntan por qué no se eligió el Random Forest teniendo mejor AUC de validación: la diferencia es de 0,005 con desviaciones de 0,014 y 0,004. Elegir por esa diferencia sería elegir por ruido, y se perdería la lectura directa de los coeficientes.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punto que más rinde en esta lámina: el umbral no es 0,5 por defecto, es 0,5 porque se barrió el rango y se comparó el costo de cada tipo de error. Es una decisión de negocio, no un parámetro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alguien objeta la precision de 0,479: es la consecuencia directa de haber elegido recall. Con umbral 0,60 sube a 0,591, pero el modelo dejaría de identificar a 16 de las 89 escuelas que efectivamente superan el nivel.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Advertencia de lectura, por si la piden: la importancia por permutación mide pérdida de AUC y SHAP mide desplazamiento de la predicción. Son escalas distintas, por eso los números no son comparables entre sí — solo lo es el orden dentro de cada uno.</a:t>
            </a:r>
          </a:p>
          <a:p/>
          <a:p>
            <a:r>
              <a:t>Figuras de respaldo disponibles: L4-6d_shap_forma_asistencia_2m.png y L4-6d_shap_forma_convivencia.png muestran la saturación en forma de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remate: el falso positivo (Alto Lauquén, 236 puntos) y un acierto (Colegio Renacer TP, Puente Alto, 256 puntos) tienen descomposiciones SHAP prácticamente idénticas —0,807 contra 0,812— y resultados separados por 20 puntos. Lo que los distingue no está en los datos que tenemos: ese es el límite honesto del modelo y la puerta de entrada al estudio cualitativo.</a:t>
            </a:r>
          </a:p>
          <a:p/>
          <a:p>
            <a:r>
              <a:t>Ojo con los scores: los de la tabla vienen de la logística; los de los gráficos SHAP, del Random Forest. Por eso Loncoche aparece con 0,19 en una y 0,072 en el otro.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lámina es el puente natural hacia las conclusiones (punto 5 de la rúbrica): responde "¿y esto para qué sirve?" antes de que lo pregunten.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Arial"/>
              </a:rPr>
              <a:t>CLASIFICACIÓN · DATOS Y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>
                <a:solidFill>
                  <a:srgbClr val="1F3A5F"/>
                </a:solidFill>
                <a:latin typeface="Arial"/>
              </a:rPr>
              <a:t>La tarea, los datos y los tres modelos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603504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Qué se predice.</a:t>
            </a:r>
            <a:r>
              <a:rPr sz="1350" b="0">
                <a:solidFill>
                  <a:srgbClr val="16202C"/>
                </a:solidFill>
                <a:latin typeface="Arial"/>
              </a:rPr>
              <a:t> target_bin = 1 si el establecimiento alcanza 252 puntos o más en Matemática 2° medio (Elemental o adecuado); 0 si queda en Insuficiente.</a:t>
            </a:r>
          </a:p>
          <a:p>
            <a:pPr lvl="1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556378"/>
                </a:solidFill>
                <a:latin typeface="Arial"/>
              </a:rPr>
              <a:t>     –  1.075 Insuficiente · 354 Elemental o adecuado → la clase positiva es solo el 24,8 %.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Unidad de análisis.</a:t>
            </a:r>
            <a:r>
              <a:rPr sz="1350" b="0">
                <a:solidFill>
                  <a:srgbClr val="16202C"/>
                </a:solidFill>
                <a:latin typeface="Arial"/>
              </a:rPr>
              <a:t> El establecimiento (rbd), no el estudiante: 1.429 escuelas de GSE bajo y medio-bajo, sin datos faltantes.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Siete predictoras</a:t>
            </a:r>
            <a:r>
              <a:rPr sz="1350" b="0">
                <a:solidFill>
                  <a:srgbClr val="16202C"/>
                </a:solidFill>
                <a:latin typeface="Arial"/>
              </a:rPr>
              <a:t>, cinco continuas y dos indicadoras de dependencia (referencia: Municipal).</a:t>
            </a:r>
          </a:p>
          <a:p>
            <a:pPr lvl="1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556378"/>
                </a:solidFill>
                <a:latin typeface="Arial"/>
              </a:rPr>
              <a:t>     –  Clima y convivencia · Estereotipos de género · IVE · Asistencia 2° medio · % docentes en tramo avanzado o superior · Part. subvencionado · SLEP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Qué se dejó fuera y por qué.</a:t>
            </a:r>
            <a:r>
              <a:rPr sz="1350" b="0">
                <a:solidFill>
                  <a:srgbClr val="16202C"/>
                </a:solidFill>
                <a:latin typeface="Arial"/>
              </a:rPr>
              <a:t> El puntaje, porque el target deriva de él; el GSE, redundante con el IVE; la zona urbano/rural, sin señal (Cramér's V = 0,016).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Partición.</a:t>
            </a:r>
            <a:r>
              <a:rPr sz="1350" b="0">
                <a:solidFill>
                  <a:srgbClr val="16202C"/>
                </a:solidFill>
                <a:latin typeface="Arial"/>
              </a:rPr>
              <a:t> 75 / 25 estratificada, semilla 42: 1.071 entrenamiento y 358 prueba.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47688" y="1737360"/>
            <a:ext cx="4977079" cy="1170432"/>
          </a:xfrm>
          <a:prstGeom prst="rect">
            <a:avLst/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Arial"/>
              </a:rPr>
              <a:t>BASELINE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16202C"/>
                </a:solidFill>
                <a:latin typeface="Arial"/>
              </a:rPr>
              <a:t>DummyClassifier
(clase mayoritaria).
La vara mínima.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47688" y="3108960"/>
            <a:ext cx="4977079" cy="1170432"/>
          </a:xfrm>
          <a:prstGeom prst="rect">
            <a:avLst/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Arial"/>
              </a:rPr>
              <a:t>INTERPRETABLE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16202C"/>
                </a:solidFill>
                <a:latin typeface="Arial"/>
              </a:rPr>
              <a:t>Regresión logística.
Entrega coeficientes
y odds ratios.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47688" y="4480560"/>
            <a:ext cx="4977079" cy="1170432"/>
          </a:xfrm>
          <a:prstGeom prst="rect">
            <a:avLst/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Arial"/>
              </a:rPr>
              <a:t>NO LINEAL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16202C"/>
                </a:solidFill>
                <a:latin typeface="Arial"/>
              </a:rPr>
              <a:t>Random Forest.
Captura efectos que
la logística no puede.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Arial"/>
              </a:rPr>
              <a:t>CLASIFICACIÓN · AJUSTE DE HIPERPARÁMETROS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>
                <a:solidFill>
                  <a:srgbClr val="1F3A5F"/>
                </a:solidFill>
                <a:latin typeface="Arial"/>
              </a:rPr>
              <a:t>Ajuste de hiperparámetros y tratamiento del desbalance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5778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Método.</a:t>
            </a:r>
            <a:r>
              <a:rPr sz="1350" b="0">
                <a:solidFill>
                  <a:srgbClr val="16202C"/>
                </a:solidFill>
                <a:latin typeface="Arial"/>
              </a:rPr>
              <a:t> GridSearchCV exhaustivo con StratifiedKFold (k=5), optimizando </a:t>
            </a:r>
            <a:r>
              <a:rPr sz="1350" b="1">
                <a:solidFill>
                  <a:srgbClr val="16202C"/>
                </a:solidFill>
                <a:latin typeface="Arial"/>
              </a:rPr>
              <a:t>AUC-ROC</a:t>
            </a:r>
            <a:r>
              <a:rPr sz="1350" b="0">
                <a:solidFill>
                  <a:srgbClr val="16202C"/>
                </a:solidFill>
                <a:latin typeface="Arial"/>
              </a:rPr>
              <a:t>. La estratificación mantiene el 24,8 % de clase positiva en cada pliegue.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Logística — C ∈ {0,01 · 0,1 · 1 · 10}.</a:t>
            </a:r>
            <a:r>
              <a:rPr sz="1350" b="0">
                <a:solidFill>
                  <a:srgbClr val="16202C"/>
                </a:solidFill>
                <a:latin typeface="Arial"/>
              </a:rPr>
              <a:t> El AUC es plano en todo el rango (0,7762 a 0,7769). Se fija </a:t>
            </a:r>
            <a:r>
              <a:rPr sz="1350" b="1">
                <a:solidFill>
                  <a:srgbClr val="16202C"/>
                </a:solidFill>
                <a:latin typeface="Arial"/>
              </a:rPr>
              <a:t>C = 0,1</a:t>
            </a:r>
            <a:r>
              <a:rPr sz="1350" b="0">
                <a:solidFill>
                  <a:srgbClr val="16202C"/>
                </a:solidFill>
                <a:latin typeface="Arial"/>
              </a:rPr>
              <a:t>: con valores menores los coeficientes se encogen y dejan de ser interpretables.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Random Forest — 9 combinaciones</a:t>
            </a:r>
            <a:r>
              <a:rPr sz="1350" b="0">
                <a:solidFill>
                  <a:srgbClr val="16202C"/>
                </a:solidFill>
                <a:latin typeface="Arial"/>
              </a:rPr>
              <a:t> de max_depth × min_samples_leaf, con 300 árboles.</a:t>
            </a:r>
          </a:p>
          <a:p>
            <a:pPr lvl="1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556378"/>
                </a:solidFill>
                <a:latin typeface="Arial"/>
              </a:rPr>
              <a:t>     –  Gana max_depth=None con min_samples_leaf=15 → AUC 0,7838.</a:t>
            </a:r>
          </a:p>
          <a:p>
            <a:pPr lvl="1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556378"/>
                </a:solidFill>
                <a:latin typeface="Arial"/>
              </a:rPr>
              <a:t>     –  Importa el tamaño de hoja, no la profundidad: con hoja = 1 el AUC cae a 0,7672.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Desbalance: class_weight="balanced", sin remuestreo.</a:t>
            </a:r>
            <a:r>
              <a:rPr sz="1350" b="0">
                <a:solidFill>
                  <a:srgbClr val="16202C"/>
                </a:solidFill>
                <a:latin typeface="Arial"/>
              </a:rPr>
              <a:t> No se usó SMOTE: con 1.071 casos y 7 variables, generar vecinos sintéticos agrega ruido sin información nueva.</a:t>
            </a:r>
          </a:p>
        </p:txBody>
      </p:sp>
      <p:pic>
        <p:nvPicPr>
          <p:cNvPr id="6" name="Picture 5" descr="L4-2_ajuste_hiperparamet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512321"/>
            <a:ext cx="5297119" cy="18333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382512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>
                <a:solidFill>
                  <a:srgbClr val="556378"/>
                </a:solidFill>
                <a:latin typeface="Arial"/>
              </a:rPr>
              <a:t>Eje Y de 0,760 a 0,795 en ambos paneles: la escala no infla diferencias de milésimas.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Arial"/>
              </a:rPr>
              <a:t>CLASIFICACIÓN · EFECTIVIDAD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>
                <a:solidFill>
                  <a:srgbClr val="1F3A5F"/>
                </a:solidFill>
                <a:latin typeface="Arial"/>
              </a:rPr>
              <a:t>Los dos modelos empatan y ambos superan al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600200"/>
          <a:ext cx="6766560" cy="1133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27760"/>
                <a:gridCol w="1127760"/>
                <a:gridCol w="1127760"/>
                <a:gridCol w="1127760"/>
                <a:gridCol w="1127760"/>
                <a:gridCol w="1127760"/>
              </a:tblGrid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AUC test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AUC 5-fold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D.E.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F1 macro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Bal. acc.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0">
                          <a:solidFill>
                            <a:srgbClr val="16202C"/>
                          </a:solidFill>
                          <a:latin typeface="Arial"/>
                        </a:rPr>
                        <a:t>Baseline (clase mayoritaria)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0">
                          <a:solidFill>
                            <a:srgbClr val="16202C"/>
                          </a:solidFill>
                          <a:latin typeface="Arial"/>
                        </a:rPr>
                        <a:t>0,500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0">
                          <a:solidFill>
                            <a:srgbClr val="16202C"/>
                          </a:solidFill>
                          <a:latin typeface="Arial"/>
                        </a:rPr>
                        <a:t>0,500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0">
                          <a:solidFill>
                            <a:srgbClr val="16202C"/>
                          </a:solidFill>
                          <a:latin typeface="Arial"/>
                        </a:rPr>
                        <a:t>0,000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0">
                          <a:solidFill>
                            <a:srgbClr val="16202C"/>
                          </a:solidFill>
                          <a:latin typeface="Arial"/>
                        </a:rPr>
                        <a:t>0,429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0">
                          <a:solidFill>
                            <a:srgbClr val="16202C"/>
                          </a:solidFill>
                          <a:latin typeface="Arial"/>
                        </a:rPr>
                        <a:t>0,500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1">
                          <a:solidFill>
                            <a:srgbClr val="16202C"/>
                          </a:solidFill>
                          <a:latin typeface="Arial"/>
                        </a:rPr>
                        <a:t>Regresión logística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1">
                          <a:solidFill>
                            <a:srgbClr val="16202C"/>
                          </a:solidFill>
                          <a:latin typeface="Arial"/>
                        </a:rPr>
                        <a:t>0,817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1">
                          <a:solidFill>
                            <a:srgbClr val="16202C"/>
                          </a:solidFill>
                          <a:latin typeface="Arial"/>
                        </a:rPr>
                        <a:t>0,783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1">
                          <a:solidFill>
                            <a:srgbClr val="16202C"/>
                          </a:solidFill>
                          <a:latin typeface="Arial"/>
                        </a:rPr>
                        <a:t>0,014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1">
                          <a:solidFill>
                            <a:srgbClr val="16202C"/>
                          </a:solidFill>
                          <a:latin typeface="Arial"/>
                        </a:rPr>
                        <a:t>0,696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1">
                          <a:solidFill>
                            <a:srgbClr val="16202C"/>
                          </a:solidFill>
                          <a:latin typeface="Arial"/>
                        </a:rPr>
                        <a:t>0,744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0">
                          <a:solidFill>
                            <a:srgbClr val="16202C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0">
                          <a:solidFill>
                            <a:srgbClr val="16202C"/>
                          </a:solidFill>
                          <a:latin typeface="Arial"/>
                        </a:rPr>
                        <a:t>0,810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0">
                          <a:solidFill>
                            <a:srgbClr val="16202C"/>
                          </a:solidFill>
                          <a:latin typeface="Arial"/>
                        </a:rPr>
                        <a:t>0,788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0">
                          <a:solidFill>
                            <a:srgbClr val="16202C"/>
                          </a:solidFill>
                          <a:latin typeface="Arial"/>
                        </a:rPr>
                        <a:t>0,004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0">
                          <a:solidFill>
                            <a:srgbClr val="16202C"/>
                          </a:solidFill>
                          <a:latin typeface="Arial"/>
                        </a:rPr>
                        <a:t>0,709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50" b="0">
                          <a:solidFill>
                            <a:srgbClr val="16202C"/>
                          </a:solidFill>
                          <a:latin typeface="Arial"/>
                        </a:rPr>
                        <a:t>0,735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2971800"/>
            <a:ext cx="67665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La cifra que se reporta es el AUC de validación cruzada</a:t>
            </a:r>
            <a:r>
              <a:rPr sz="1350" b="0">
                <a:solidFill>
                  <a:srgbClr val="16202C"/>
                </a:solidFill>
                <a:latin typeface="Arial"/>
              </a:rPr>
              <a:t>, no la del split único: 0,783 ± 0,014 la logística y 0,788 ± 0,004 el bosque.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La diferencia cae dentro del margen de error.</a:t>
            </a:r>
            <a:r>
              <a:rPr sz="1350" b="0">
                <a:solidFill>
                  <a:srgbClr val="16202C"/>
                </a:solidFill>
                <a:latin typeface="Arial"/>
              </a:rPr>
              <a:t> Se mantiene la </a:t>
            </a:r>
            <a:r>
              <a:rPr sz="1350" b="1">
                <a:solidFill>
                  <a:srgbClr val="16202C"/>
                </a:solidFill>
                <a:latin typeface="Arial"/>
              </a:rPr>
              <a:t>logística como modelo principal</a:t>
            </a:r>
            <a:r>
              <a:rPr sz="1350" b="0">
                <a:solidFill>
                  <a:srgbClr val="16202C"/>
                </a:solidFill>
                <a:latin typeface="Arial"/>
              </a:rPr>
              <a:t> por interpretabilidad; el Random Forest se usa para leer la forma de los efectos.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El baseline se ancla en 0,500 de balanced accuracy:</a:t>
            </a:r>
            <a:r>
              <a:rPr sz="1350" b="0">
                <a:solidFill>
                  <a:srgbClr val="16202C"/>
                </a:solidFill>
                <a:latin typeface="Arial"/>
              </a:rPr>
              <a:t> predecir siempre "Insuficiente" acierta el 75 % de las veces pero no detecta ni un solo caso de la clase que interesa.</a:t>
            </a:r>
          </a:p>
        </p:txBody>
      </p:sp>
      <p:pic>
        <p:nvPicPr>
          <p:cNvPr id="7" name="Picture 6" descr="L4-3_roc_precision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084292"/>
            <a:ext cx="4172407" cy="1512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Arial"/>
              </a:rPr>
              <a:t>CLASIFICACIÓN · SCORES Y UMBRAL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>
                <a:solidFill>
                  <a:srgbClr val="1F3A5F"/>
                </a:solidFill>
                <a:latin typeface="Arial"/>
              </a:rPr>
              <a:t>Histograma de scores y elección del umbral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4-4_histograma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5754"/>
            <a:ext cx="6035040" cy="297497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86968" y="4709160"/>
          <a:ext cx="5394960" cy="17007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78992"/>
                <a:gridCol w="1078992"/>
                <a:gridCol w="1078992"/>
                <a:gridCol w="1078992"/>
                <a:gridCol w="1078992"/>
              </a:tblGrid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Umbral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Predichos +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0,40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0,411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0,854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0,555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0,45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0,444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0,798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0,570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0,50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0,479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0,764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0,589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0,55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0,513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0,663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0,578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0,60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0,591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0,584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0,588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47688" y="1645920"/>
            <a:ext cx="4977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Las dos distribuciones están desplazadas pero superpuestas.</a:t>
            </a:r>
            <a:r>
              <a:rPr sz="1350" b="0">
                <a:solidFill>
                  <a:srgbClr val="16202C"/>
                </a:solidFill>
                <a:latin typeface="Arial"/>
              </a:rPr>
              <a:t> El modelo ordena bien a los establecimientos —eso mide el AUC— pero no existe un corte que separe las clases sin error. La zona entre 0,4 y 0,7 es donde se juegan las decisiones.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Barrido del umbral entre 0,30 y 0,70.</a:t>
            </a:r>
            <a:r>
              <a:rPr sz="1350" b="0">
                <a:solidFill>
                  <a:srgbClr val="16202C"/>
                </a:solidFill>
                <a:latin typeface="Arial"/>
              </a:rPr>
              <a:t> El F1 es máximo en </a:t>
            </a:r>
            <a:r>
              <a:rPr sz="1350" b="1">
                <a:solidFill>
                  <a:srgbClr val="16202C"/>
                </a:solidFill>
                <a:latin typeface="Arial"/>
              </a:rPr>
              <a:t>0,50</a:t>
            </a:r>
            <a:r>
              <a:rPr sz="1350" b="0">
                <a:solidFill>
                  <a:srgbClr val="16202C"/>
                </a:solidFill>
                <a:latin typeface="Arial"/>
              </a:rPr>
              <a:t> (0,589), con 0,60 casi empatado (0,588).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El desempate lo define el costo del error.</a:t>
            </a:r>
            <a:r>
              <a:rPr sz="1350" b="0">
                <a:solidFill>
                  <a:srgbClr val="16202C"/>
                </a:solidFill>
                <a:latin typeface="Arial"/>
              </a:rPr>
              <a:t> A 0,50 el recall es 0,764; a 0,60 cae a 0,584. Se prefiere no dejar pasar escuelas que sí superan el nivel, aunque eso traiga más falsos positivos.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Arial"/>
              </a:rPr>
              <a:t>CLASIFICACIÓN · EFECTIVIDAD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>
                <a:solidFill>
                  <a:srgbClr val="1F3A5F"/>
                </a:solidFill>
                <a:latin typeface="Arial"/>
              </a:rPr>
              <a:t>Qué acierta y qué falla el modelo al umbral 0,50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4-5_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46" y="1645920"/>
            <a:ext cx="3035004" cy="32004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5029200"/>
          <a:ext cx="4480560" cy="1133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96112"/>
                <a:gridCol w="896112"/>
                <a:gridCol w="896112"/>
                <a:gridCol w="896112"/>
                <a:gridCol w="896112"/>
              </a:tblGrid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Clase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Precis.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Insuficiente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0,903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0,725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0,804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Elemental o adecuado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0,479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0,764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0,589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Macro promedio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0,691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0,744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0,696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24728" y="1737360"/>
            <a:ext cx="5800039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Acierta 269 de 358 casos</a:t>
            </a:r>
            <a:r>
              <a:rPr sz="1350" b="0">
                <a:solidFill>
                  <a:srgbClr val="16202C"/>
                </a:solidFill>
                <a:latin typeface="Arial"/>
              </a:rPr>
              <a:t> (accuracy 0,735), pero la cifra relevante es otra: de los 89 establecimientos que superan el nivel, </a:t>
            </a:r>
            <a:r>
              <a:rPr sz="1350" b="1">
                <a:solidFill>
                  <a:srgbClr val="16202C"/>
                </a:solidFill>
                <a:latin typeface="Arial"/>
              </a:rPr>
              <a:t>recupera 68</a:t>
            </a:r>
            <a:r>
              <a:rPr sz="1350" b="0">
                <a:solidFill>
                  <a:srgbClr val="16202C"/>
                </a:solidFill>
                <a:latin typeface="Arial"/>
              </a:rPr>
              <a:t> (recall 0,764).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El costo son 74 falsos positivos</a:t>
            </a:r>
            <a:r>
              <a:rPr sz="1350" b="0">
                <a:solidFill>
                  <a:srgbClr val="16202C"/>
                </a:solidFill>
                <a:latin typeface="Arial"/>
              </a:rPr>
              <a:t> (precision 0,479): escuelas con condiciones para superar el nivel que no lo logran. Son, en sí mismas, un hallazgo del proyecto.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Balanced accuracy 0,744 y F1 macro 0,696</a:t>
            </a:r>
            <a:r>
              <a:rPr sz="1350" b="0">
                <a:solidFill>
                  <a:srgbClr val="16202C"/>
                </a:solidFill>
                <a:latin typeface="Arial"/>
              </a:rPr>
              <a:t>, frente a 0,500 y 0,429 del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Arial"/>
              </a:rPr>
              <a:t>CLASIFICACIÓN · INTERPRETACIÓN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>
                <a:solidFill>
                  <a:srgbClr val="1F3A5F"/>
                </a:solidFill>
                <a:latin typeface="Arial"/>
              </a:rPr>
              <a:t>Qué factores se asocian al rendimiento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5778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En la logística mandan el clima escolar y la dependencia.</a:t>
            </a:r>
            <a:r>
              <a:rPr sz="1350" b="0">
                <a:solidFill>
                  <a:srgbClr val="16202C"/>
                </a:solidFill>
                <a:latin typeface="Arial"/>
              </a:rPr>
              <a:t> Clima y convivencia 0,099, particular subvencionado 0,086, asistencia 0,063.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Los odds ratios dan la lectura sustantiva:</a:t>
            </a:r>
            <a:r>
              <a:rPr sz="1350" b="0">
                <a:solidFill>
                  <a:srgbClr val="16202C"/>
                </a:solidFill>
                <a:latin typeface="Arial"/>
              </a:rPr>
              <a:t> convivencia 1,69 y asistencia 1,64 por cada desviación estándar; los estereotipos de género juegan en contra (0,72) y el IVE también (0,75).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El % de docentes en tramo avanzado no aporta</a:t>
            </a:r>
            <a:r>
              <a:rPr sz="1350" b="0">
                <a:solidFill>
                  <a:srgbClr val="16202C"/>
                </a:solidFill>
                <a:latin typeface="Arial"/>
              </a:rPr>
              <a:t> (0,009 ± 0,010, indistinguible de cero).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SHAP sobre el Random Forest reordena, pero no cambia el elenco:</a:t>
            </a:r>
            <a:r>
              <a:rPr sz="1350" b="0">
                <a:solidFill>
                  <a:srgbClr val="16202C"/>
                </a:solidFill>
                <a:latin typeface="Arial"/>
              </a:rPr>
              <a:t> asistencia 0,100, convivencia 0,076, particular subvencionado e IVE 0,061, género 0,059.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Los efectos tienen forma de S, no de recta.</a:t>
            </a:r>
            <a:r>
              <a:rPr sz="1350" b="0">
                <a:solidFill>
                  <a:srgbClr val="16202C"/>
                </a:solidFill>
                <a:latin typeface="Arial"/>
              </a:rPr>
              <a:t> La asistencia pesa fuerte bajo 0,80 y se aplana sobre 0,90; la convivencia hace lo mismo sobre 80 puntos. El margen está en sacar a una escuela del tramo bajo, no en llevarla de 0,92 a 0,95.</a:t>
            </a:r>
          </a:p>
        </p:txBody>
      </p:sp>
      <p:pic>
        <p:nvPicPr>
          <p:cNvPr id="6" name="Picture 5" descr="L4-6_importancia_permut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562" y="1600200"/>
            <a:ext cx="4902130" cy="2286000"/>
          </a:xfrm>
          <a:prstGeom prst="rect">
            <a:avLst/>
          </a:prstGeom>
        </p:spPr>
      </p:pic>
      <p:pic>
        <p:nvPicPr>
          <p:cNvPr id="7" name="Picture 6" descr="L4-6c_shap_beesw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965" y="3977639"/>
            <a:ext cx="4235325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Arial"/>
              </a:rPr>
              <a:t>CLASIFICACIÓN · REVISIÓN DE CASOS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>
                <a:solidFill>
                  <a:srgbClr val="1F3A5F"/>
                </a:solidFill>
                <a:latin typeface="Arial"/>
              </a:rPr>
              <a:t>Las escuelas que el modelo no logra explicar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6035040" cy="1417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62148"/>
                <a:gridCol w="862148"/>
                <a:gridCol w="862148"/>
                <a:gridCol w="862148"/>
                <a:gridCol w="862148"/>
                <a:gridCol w="862148"/>
                <a:gridCol w="862152"/>
              </a:tblGrid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Resultado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Conviv.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Asist.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IVE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Género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Puntaje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Acierto (insuficiente)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73,2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0,84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0,90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+0,04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224,5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Acierto (supera)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78,8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0,90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0,87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−0,13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271,9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Falso negativo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76,1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0,86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0,90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+0,11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1">
                          <a:solidFill>
                            <a:srgbClr val="16202C"/>
                          </a:solidFill>
                          <a:latin typeface="Arial"/>
                        </a:rPr>
                        <a:t>267,0</a:t>
                      </a:r>
                    </a:p>
                  </a:txBody>
                  <a:tcPr marL="64008" marR="64008" marT="18288" marB="18288">
                    <a:solidFill>
                      <a:srgbClr val="E8ED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Falso positivo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77,5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0,89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0,89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−0,09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100" b="0">
                          <a:solidFill>
                            <a:srgbClr val="16202C"/>
                          </a:solidFill>
                          <a:latin typeface="Arial"/>
                        </a:rPr>
                        <a:t>232,5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063240"/>
            <a:ext cx="6035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00" b="0">
                <a:solidFill>
                  <a:srgbClr val="16202C"/>
                </a:solidFill>
                <a:latin typeface="Arial"/>
              </a:rPr>
              <a:t>•  </a:t>
            </a:r>
            <a:r>
              <a:rPr sz="1300" b="1">
                <a:solidFill>
                  <a:srgbClr val="16202C"/>
                </a:solidFill>
                <a:latin typeface="Arial"/>
              </a:rPr>
              <a:t>Los 21 falsos negativos son el corazón de la pregunta de investigación.</a:t>
            </a:r>
            <a:r>
              <a:rPr sz="1300" b="0">
                <a:solidFill>
                  <a:srgbClr val="16202C"/>
                </a:solidFill>
                <a:latin typeface="Arial"/>
              </a:rPr>
              <a:t> Promedian 267 puntos con condiciones de contexto que predicen fracaso.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00" b="0">
                <a:solidFill>
                  <a:srgbClr val="16202C"/>
                </a:solidFill>
                <a:latin typeface="Arial"/>
              </a:rPr>
              <a:t>•  </a:t>
            </a:r>
            <a:r>
              <a:rPr sz="1300" b="1">
                <a:solidFill>
                  <a:srgbClr val="16202C"/>
                </a:solidFill>
                <a:latin typeface="Arial"/>
              </a:rPr>
              <a:t>Los 74 falsos positivos son el patrón inverso:</a:t>
            </a:r>
            <a:r>
              <a:rPr sz="1300" b="0">
                <a:solidFill>
                  <a:srgbClr val="16202C"/>
                </a:solidFill>
                <a:latin typeface="Arial"/>
              </a:rPr>
              <a:t> buena convivencia (77,5) y buena asistencia (0,89), pero 232 puntos.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5029200"/>
          <a:ext cx="6035040" cy="1133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07008"/>
                <a:gridCol w="1207008"/>
                <a:gridCol w="1207008"/>
                <a:gridCol w="1207008"/>
                <a:gridCol w="1207008"/>
              </a:tblGrid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Falsos negativos extremos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Comuna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IVE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Puntaje</a:t>
                      </a:r>
                    </a:p>
                  </a:txBody>
                  <a:tcPr marL="64008" marR="64008">
                    <a:solidFill>
                      <a:srgbClr val="1F3A5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Liceo Bicent. de Excelencia Técnica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Loncoche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0,19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0,98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Liceo Industrial J. T. de Urmeneta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Coquimbo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0,22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0,93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Colegio Robinson Cabrera Beltrán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Retiro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0,29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0,97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0">
                          <a:solidFill>
                            <a:srgbClr val="16202C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L4-7_shap_caso_falso_nega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46501"/>
            <a:ext cx="4858207" cy="1884838"/>
          </a:xfrm>
          <a:prstGeom prst="rect">
            <a:avLst/>
          </a:prstGeom>
        </p:spPr>
      </p:pic>
      <p:pic>
        <p:nvPicPr>
          <p:cNvPr id="9" name="Picture 8" descr="L4-7_shap_caso_falso_posi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046282"/>
            <a:ext cx="4858207" cy="21487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Arial"/>
              </a:rPr>
              <a:t>CLASIFICACIÓN ·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>
                <a:solidFill>
                  <a:srgbClr val="1F3A5F"/>
                </a:solidFill>
                <a:latin typeface="Arial"/>
              </a:rPr>
              <a:t>Para qué sirve: focalizar apoyos por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4-8_focalizacion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32084"/>
            <a:ext cx="6400800" cy="3308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737360"/>
            <a:ext cx="4401007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El uso del modelo no es clasificar, es ordenar.</a:t>
            </a:r>
            <a:r>
              <a:rPr sz="1350" b="0">
                <a:solidFill>
                  <a:srgbClr val="16202C"/>
                </a:solidFill>
                <a:latin typeface="Arial"/>
              </a:rPr>
              <a:t> Ordenando por score ascendente se obtiene una lista de prioridad de intervención.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Los 50 de menor score son todos realmente Insuficientes</a:t>
            </a:r>
            <a:r>
              <a:rPr sz="1350" b="0">
                <a:solidFill>
                  <a:srgbClr val="16202C"/>
                </a:solidFill>
                <a:latin typeface="Arial"/>
              </a:rPr>
              <a:t> (100 %), contra una tasa base de 75,1 % si se eligieran al azar. En los primeros 100 la precisión es 97 %; en los 150, 95 %.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Traducción a gestión:</a:t>
            </a:r>
            <a:r>
              <a:rPr sz="1350" b="0">
                <a:solidFill>
                  <a:srgbClr val="16202C"/>
                </a:solidFill>
                <a:latin typeface="Arial"/>
              </a:rPr>
              <a:t> con presupuesto para 100 escuelas, focalizar por score evita destinar recursos a unos 22 establecimientos que no los necesitaban.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350" b="0">
                <a:solidFill>
                  <a:srgbClr val="16202C"/>
                </a:solidFill>
                <a:latin typeface="Arial"/>
              </a:rPr>
              <a:t>•  </a:t>
            </a:r>
            <a:r>
              <a:rPr sz="1350" b="1">
                <a:solidFill>
                  <a:srgbClr val="16202C"/>
                </a:solidFill>
                <a:latin typeface="Arial"/>
              </a:rPr>
              <a:t>Las dos palancas accionables son clima escolar y asistencia</a:t>
            </a:r>
            <a:r>
              <a:rPr sz="1350" b="0">
                <a:solidFill>
                  <a:srgbClr val="16202C"/>
                </a:solidFill>
                <a:latin typeface="Arial"/>
              </a:rPr>
              <a:t>, las únicas que la gestión escolar puede mover en el corto plazo. El IVE y la dependencia son contexto, no palanca.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