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08"/>
    <p:restoredTop sz="94668"/>
  </p:normalViewPr>
  <p:slideViewPr>
    <p:cSldViewPr snapToGrid="0" snapToObjects="1">
      <p:cViewPr varScale="1">
        <p:scale>
          <a:sx n="149" d="100"/>
          <a:sy n="149" d="100"/>
        </p:scale>
        <p:origin x="201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704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desbalance 75/25 es el hecho que ordena todas las decisiones siguientes: descarta el accuracy como métrica, obliga a ponderar las clases y hace que el umbral de decisión sea una elección explícita y no el 0,5 por defecto.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curva plana de C no es un resultado pobre: dice que con siete predictoras y mil casos la regularización no es el cuello de botella. El techo lo pone la señal disponible, no el ajuste.</a:t>
            </a:r>
          </a:p>
          <a:p>
            <a:endParaRPr/>
          </a:p>
          <a:p>
            <a:r>
              <a:t>OJO: la versión anterior de esta lámina mencionaba SMOTE y RandomizedSearchCV. No se usó ninguno de los 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 preguntan por qué no se eligió el Random Forest teniendo mejor AUC de validación: la diferencia es de 0,005 con desviaciones de 0,014 y 0,004. Elegir por esa diferencia sería elegir por ruido, y se perdería la lectura directa de los coeficientes.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punto que más rinde en esta lámina: el umbral no es 0,5 por defecto, es 0,5 porque se barrió el rango y se comparó el costo de cada tipo de error. Es una decisión de negocio, no un parámetro técnico.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 alguien objeta la precision de 0,479: es la consecuencia directa de haber elegido recall. Con umbral 0,60 sube a 0,591, pero el modelo dejaría de identificar a 16 de las 89 escuelas que efectivamente superan el nivel.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Advertencia de lectura, por si la piden: la importancia por permutación mide pérdida de AUC y SHAP mide desplazamiento de la predicción. Son escalas distintas, por eso los números no son comparables entre sí — solo lo es el orden dentro de cada uno.</a:t>
            </a:r>
          </a:p>
          <a:p>
            <a:endParaRPr/>
          </a:p>
          <a:p>
            <a:r>
              <a:t>Figuras de respaldo disponibles: L4-6d_shap_forma_asistencia_2m.png y L4-6d_shap_forma_convivencia.png muestran la saturación en forma de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remate: el falso positivo (Alto Lauquén, 236 puntos) y un acierto (Colegio Renacer TP, Puente Alto, 256 puntos) tienen descomposiciones SHAP prácticamente idénticas —0,807 contra 0,812— y resultados separados por 20 puntos. Lo que los distingue no está en los datos que tenemos: ese es el límite honesto del modelo y la puerta de entrada al estudio cualitativo.</a:t>
            </a:r>
          </a:p>
          <a:p>
            <a:endParaRPr/>
          </a:p>
          <a:p>
            <a:r>
              <a:t>Ojo con los scores: los de la tabla vienen de la logística; los de los gráficos SHAP, del Random Forest. Por eso Loncoche aparece con 0,19 en una y 0,072 en el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lámina es el puente natural hacia las conclusiones (punto 5 de la rúbrica): responde "¿y esto para qué sirve?" antes de que lo pregunten.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CLASIFICACIÓN · DATOS Y MODELOS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>
                <a:solidFill>
                  <a:srgbClr val="1F3A5F"/>
                </a:solidFill>
                <a:latin typeface="Arial"/>
              </a:rPr>
              <a:t>La tarea, los datos y los tres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6035040" cy="4663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Qué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se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predice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.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target_bin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= 1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si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establecimiento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alcanza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252 puntos o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más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Matemática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2° medio (Elemental o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adecuado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); 0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si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queda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Insuficiente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  <a:p>
            <a:pPr lvl="1">
              <a:lnSpc>
                <a:spcPct val="115000"/>
              </a:lnSpc>
              <a:spcBef>
                <a:spcPts val="400"/>
              </a:spcBef>
            </a:pPr>
            <a:r>
              <a:rPr sz="1200" b="0" dirty="0">
                <a:solidFill>
                  <a:srgbClr val="556378"/>
                </a:solidFill>
                <a:latin typeface="Arial"/>
              </a:rPr>
              <a:t>     –  1.075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Insuficiente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· 354 Elemental o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adecuado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→ la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clase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positiva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es solo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el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24,8 %.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Unidad de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análisis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.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El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establecimiento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(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rbd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), no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estudiante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: 1.429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escuelas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de GSE bajo y medio-bajo, sin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datos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faltantes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Siete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predictoras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,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cinco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continuas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y dos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indicadoras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de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dependencia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(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referencia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: Municipal).</a:t>
            </a:r>
          </a:p>
          <a:p>
            <a:pPr lvl="1">
              <a:lnSpc>
                <a:spcPct val="115000"/>
              </a:lnSpc>
              <a:spcBef>
                <a:spcPts val="400"/>
              </a:spcBef>
            </a:pPr>
            <a:r>
              <a:rPr sz="1200" b="0" dirty="0">
                <a:solidFill>
                  <a:srgbClr val="556378"/>
                </a:solidFill>
                <a:latin typeface="Arial"/>
              </a:rPr>
              <a:t>     – 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Clima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y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convivencia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·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Estereotipos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de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género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· IVE ·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Asistencia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2° medio · %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docentes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en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tramo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avanzado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o superior · Part.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subvencionado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· SLEP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Qué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se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dejó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fuera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y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por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qué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.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El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puntaje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,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porque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target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deriva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de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él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;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GSE,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redundante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con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IVE; la zona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urbano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/rural, sin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señal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(Cramér's V = 0,016).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Partición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.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75 / 25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estratificada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,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semilla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42: 1.071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entrenamiento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y 358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prueba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7688" y="1737360"/>
            <a:ext cx="4977079" cy="1170432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BASELINE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16202C"/>
                </a:solidFill>
                <a:latin typeface="Arial"/>
              </a:rPr>
              <a:t>DummyClassifier
(clase mayoritaria).
La vara mínima.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47688" y="3108960"/>
            <a:ext cx="4977079" cy="1170432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INTERPRETABLE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16202C"/>
                </a:solidFill>
                <a:latin typeface="Arial"/>
              </a:rPr>
              <a:t>Regresión logística.
Entrega coeficientes
y odds ratios.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47688" y="4480560"/>
            <a:ext cx="4977079" cy="1170432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NO LINEAL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16202C"/>
                </a:solidFill>
                <a:latin typeface="Arial"/>
              </a:rPr>
              <a:t>Random Forest.
Captura efectos que
la logística no puede.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CLASIFICACIÓN · AJUSTE DE HIPERPARÁMETROS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>
                <a:solidFill>
                  <a:srgbClr val="1F3A5F"/>
                </a:solidFill>
                <a:latin typeface="Arial"/>
              </a:rPr>
              <a:t>Ajuste de hiperparámetros y tratamiento del desbalance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577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Método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.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GridSearchCV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exhaustivo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con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StratifiedKFold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(k=5),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optimizando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AUC-ROC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 La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estratificación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mantiene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24,8 % de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clase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positiva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cada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pliegue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Logística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— C ∈ {0,01 · 0,1 · 1 · 10}.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El AUC es plano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todo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rango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(0,7762 a 0,7769). Se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fija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C = 0,1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: con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valores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menores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los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coeficientes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se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encogen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y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dejan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de ser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interpretables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Random Forest — 9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combinaciones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de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max_depth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×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min_samples_leaf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, con 300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árboles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  <a:p>
            <a:pPr lvl="1">
              <a:lnSpc>
                <a:spcPct val="115000"/>
              </a:lnSpc>
              <a:spcBef>
                <a:spcPts val="400"/>
              </a:spcBef>
            </a:pPr>
            <a:r>
              <a:rPr sz="1200" b="0" dirty="0">
                <a:solidFill>
                  <a:srgbClr val="556378"/>
                </a:solidFill>
                <a:latin typeface="Arial"/>
              </a:rPr>
              <a:t>     – 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Gana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max_depth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=None con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min_samples_leaf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=15 → AUC 0,7838.</a:t>
            </a:r>
          </a:p>
          <a:p>
            <a:pPr lvl="1">
              <a:lnSpc>
                <a:spcPct val="115000"/>
              </a:lnSpc>
              <a:spcBef>
                <a:spcPts val="400"/>
              </a:spcBef>
            </a:pPr>
            <a:r>
              <a:rPr sz="1200" b="0" dirty="0">
                <a:solidFill>
                  <a:srgbClr val="556378"/>
                </a:solidFill>
                <a:latin typeface="Arial"/>
              </a:rPr>
              <a:t>     – 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Importa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el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tamaño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de hoja, no la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profundidad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: con hoja = 1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el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AUC </a:t>
            </a:r>
            <a:r>
              <a:rPr sz="1200" b="0" dirty="0" err="1">
                <a:solidFill>
                  <a:srgbClr val="556378"/>
                </a:solidFill>
                <a:latin typeface="Arial"/>
              </a:rPr>
              <a:t>cae</a:t>
            </a:r>
            <a:r>
              <a:rPr sz="1200" b="0" dirty="0">
                <a:solidFill>
                  <a:srgbClr val="556378"/>
                </a:solidFill>
                <a:latin typeface="Arial"/>
              </a:rPr>
              <a:t> a 0,7672.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Desbalance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: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class_weight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="balanced", sin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remuestreo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.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No se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usó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SMOTE: con 1.071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casos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y 7 variables,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generar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vecinos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sintéticos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agrega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ruido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sin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información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nueva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</p:txBody>
      </p:sp>
      <p:pic>
        <p:nvPicPr>
          <p:cNvPr id="6" name="Picture 5" descr="L4-2_ajuste_hiperparametr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512321"/>
            <a:ext cx="5297119" cy="18333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382512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56378"/>
                </a:solidFill>
                <a:latin typeface="Arial"/>
              </a:rPr>
              <a:t>Eje Y de 0,760 a 0,795 en ambos paneles: la escala no infla diferencias de milésimas.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CLASIFICACIÓN · EFECTIVIDAD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>
                <a:solidFill>
                  <a:srgbClr val="1F3A5F"/>
                </a:solidFill>
                <a:latin typeface="Arial"/>
              </a:rPr>
              <a:t>Los dos modelos empatan y ambos superan al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00200"/>
          <a:ext cx="6766560" cy="155105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2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AUC test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AUC 5-fold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D.E.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F1 macro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Bal. acc.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Baseline (clase mayoritaria)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0,500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0,500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0,000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0,429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 dirty="0">
                          <a:solidFill>
                            <a:srgbClr val="16202C"/>
                          </a:solidFill>
                          <a:latin typeface="Arial"/>
                        </a:rPr>
                        <a:t>0,500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1">
                          <a:solidFill>
                            <a:srgbClr val="16202C"/>
                          </a:solidFill>
                          <a:latin typeface="Arial"/>
                        </a:rPr>
                        <a:t>Regresión logística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1">
                          <a:solidFill>
                            <a:srgbClr val="16202C"/>
                          </a:solidFill>
                          <a:latin typeface="Arial"/>
                        </a:rPr>
                        <a:t>0,817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1">
                          <a:solidFill>
                            <a:srgbClr val="16202C"/>
                          </a:solidFill>
                          <a:latin typeface="Arial"/>
                        </a:rPr>
                        <a:t>0,783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1">
                          <a:solidFill>
                            <a:srgbClr val="16202C"/>
                          </a:solidFill>
                          <a:latin typeface="Arial"/>
                        </a:rPr>
                        <a:t>0,014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1">
                          <a:solidFill>
                            <a:srgbClr val="16202C"/>
                          </a:solidFill>
                          <a:latin typeface="Arial"/>
                        </a:rPr>
                        <a:t>0,696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1">
                          <a:solidFill>
                            <a:srgbClr val="16202C"/>
                          </a:solidFill>
                          <a:latin typeface="Arial"/>
                        </a:rPr>
                        <a:t>0,744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0,810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0,788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0,004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>
                          <a:solidFill>
                            <a:srgbClr val="16202C"/>
                          </a:solidFill>
                          <a:latin typeface="Arial"/>
                        </a:rPr>
                        <a:t>0,709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50" b="0" dirty="0">
                          <a:solidFill>
                            <a:srgbClr val="16202C"/>
                          </a:solidFill>
                          <a:latin typeface="Arial"/>
                        </a:rPr>
                        <a:t>0,735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971800"/>
            <a:ext cx="676656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La cifra que se reporta es el AUC de validación cruzada</a:t>
            </a:r>
            <a:r>
              <a:rPr sz="1350" b="0">
                <a:solidFill>
                  <a:srgbClr val="16202C"/>
                </a:solidFill>
                <a:latin typeface="Arial"/>
              </a:rPr>
              <a:t>, no la del split único: 0,783 ± 0,014 la logística y 0,788 ± 0,004 el bosque.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La diferencia cae dentro del margen de error.</a:t>
            </a:r>
            <a:r>
              <a:rPr sz="1350" b="0">
                <a:solidFill>
                  <a:srgbClr val="16202C"/>
                </a:solidFill>
                <a:latin typeface="Arial"/>
              </a:rPr>
              <a:t> Se mantiene la </a:t>
            </a:r>
            <a:r>
              <a:rPr sz="1350" b="1">
                <a:solidFill>
                  <a:srgbClr val="16202C"/>
                </a:solidFill>
                <a:latin typeface="Arial"/>
              </a:rPr>
              <a:t>logística como modelo principal</a:t>
            </a:r>
            <a:r>
              <a:rPr sz="1350" b="0">
                <a:solidFill>
                  <a:srgbClr val="16202C"/>
                </a:solidFill>
                <a:latin typeface="Arial"/>
              </a:rPr>
              <a:t> por interpretabilidad; el Random Forest se usa para leer la forma de los efectos.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El baseline se ancla en 0,500 de balanced accuracy:</a:t>
            </a:r>
            <a:r>
              <a:rPr sz="1350" b="0">
                <a:solidFill>
                  <a:srgbClr val="16202C"/>
                </a:solidFill>
                <a:latin typeface="Arial"/>
              </a:rPr>
              <a:t> predecir siempre "Insuficiente" acierta el 75 % de las veces pero no detecta ni un solo caso de la clase que interesa.</a:t>
            </a:r>
          </a:p>
        </p:txBody>
      </p:sp>
      <p:pic>
        <p:nvPicPr>
          <p:cNvPr id="7" name="Picture 6" descr="L4-3_roc_precision_rec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084292"/>
            <a:ext cx="4172407" cy="15123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CLASIFICACIÓN · SCORES Y UMBRAL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>
                <a:solidFill>
                  <a:srgbClr val="1F3A5F"/>
                </a:solidFill>
                <a:latin typeface="Arial"/>
              </a:rPr>
              <a:t>Histograma de scores y elección del umbral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4-4_histograma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5754"/>
            <a:ext cx="6035040" cy="2974971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86968" y="4709160"/>
          <a:ext cx="53949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78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Umbral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Predichos +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 dirty="0">
                          <a:solidFill>
                            <a:srgbClr val="16202C"/>
                          </a:solidFill>
                          <a:latin typeface="Arial"/>
                        </a:rPr>
                        <a:t>0,40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0,411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0,854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0,555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 dirty="0">
                          <a:solidFill>
                            <a:srgbClr val="16202C"/>
                          </a:solidFill>
                          <a:latin typeface="Arial"/>
                        </a:rPr>
                        <a:t>0,45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0,444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0,798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0,570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 dirty="0">
                          <a:solidFill>
                            <a:srgbClr val="16202C"/>
                          </a:solidFill>
                          <a:latin typeface="Arial"/>
                        </a:rPr>
                        <a:t>0,50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 dirty="0">
                          <a:solidFill>
                            <a:srgbClr val="16202C"/>
                          </a:solidFill>
                          <a:latin typeface="Arial"/>
                        </a:rPr>
                        <a:t>0,479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 dirty="0">
                          <a:solidFill>
                            <a:srgbClr val="16202C"/>
                          </a:solidFill>
                          <a:latin typeface="Arial"/>
                        </a:rPr>
                        <a:t>0,764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 dirty="0">
                          <a:solidFill>
                            <a:srgbClr val="16202C"/>
                          </a:solidFill>
                          <a:latin typeface="Arial"/>
                        </a:rPr>
                        <a:t>0,589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 dirty="0">
                          <a:solidFill>
                            <a:srgbClr val="16202C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 dirty="0">
                          <a:solidFill>
                            <a:srgbClr val="16202C"/>
                          </a:solidFill>
                          <a:latin typeface="Arial"/>
                        </a:rPr>
                        <a:t>0,55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0,513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0,663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0,578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0,591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0,584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0,588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 dirty="0">
                          <a:solidFill>
                            <a:srgbClr val="16202C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47688" y="1645920"/>
            <a:ext cx="4977079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Las dos distribuciones están desplazadas pero superpuestas.</a:t>
            </a:r>
            <a:r>
              <a:rPr sz="1350" b="0">
                <a:solidFill>
                  <a:srgbClr val="16202C"/>
                </a:solidFill>
                <a:latin typeface="Arial"/>
              </a:rPr>
              <a:t> El modelo ordena bien a los establecimientos —eso mide el AUC— pero no existe un corte que separe las clases sin error. La zona entre 0,4 y 0,7 es donde se juegan las decisiones.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Barrido del umbral entre 0,30 y 0,70.</a:t>
            </a:r>
            <a:r>
              <a:rPr sz="1350" b="0">
                <a:solidFill>
                  <a:srgbClr val="16202C"/>
                </a:solidFill>
                <a:latin typeface="Arial"/>
              </a:rPr>
              <a:t> El F1 es máximo en </a:t>
            </a:r>
            <a:r>
              <a:rPr sz="1350" b="1">
                <a:solidFill>
                  <a:srgbClr val="16202C"/>
                </a:solidFill>
                <a:latin typeface="Arial"/>
              </a:rPr>
              <a:t>0,50</a:t>
            </a:r>
            <a:r>
              <a:rPr sz="1350" b="0">
                <a:solidFill>
                  <a:srgbClr val="16202C"/>
                </a:solidFill>
                <a:latin typeface="Arial"/>
              </a:rPr>
              <a:t> (0,589), con 0,60 casi empatado (0,588).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El desempate lo define el costo del error.</a:t>
            </a:r>
            <a:r>
              <a:rPr sz="1350" b="0">
                <a:solidFill>
                  <a:srgbClr val="16202C"/>
                </a:solidFill>
                <a:latin typeface="Arial"/>
              </a:rPr>
              <a:t> A 0,50 el recall es 0,764; a 0,60 cae a 0,584. Se prefiere no dejar pasar escuelas que sí superan el nivel, aunque eso traiga más falsos positivos.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CLASIFICACIÓN · EFECTIVIDAD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>
                <a:solidFill>
                  <a:srgbClr val="1F3A5F"/>
                </a:solidFill>
                <a:latin typeface="Arial"/>
              </a:rPr>
              <a:t>Qué acierta y qué falla el modelo al umbral 0,50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4-5_matriz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146" y="1645920"/>
            <a:ext cx="3035004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9808" y="5029200"/>
          <a:ext cx="4480560" cy="137845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96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Clase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Precis.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Insuficiente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0,903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0,725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0,804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Elemental o adecuado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0,479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0,764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0,589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Macro promedio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0,691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0,744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0,696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24728" y="1737360"/>
            <a:ext cx="5800039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Acierta 269 de 358 casos</a:t>
            </a:r>
            <a:r>
              <a:rPr sz="1350" b="0">
                <a:solidFill>
                  <a:srgbClr val="16202C"/>
                </a:solidFill>
                <a:latin typeface="Arial"/>
              </a:rPr>
              <a:t> (accuracy 0,735), pero la cifra relevante es otra: de los 89 establecimientos que superan el nivel, </a:t>
            </a:r>
            <a:r>
              <a:rPr sz="1350" b="1">
                <a:solidFill>
                  <a:srgbClr val="16202C"/>
                </a:solidFill>
                <a:latin typeface="Arial"/>
              </a:rPr>
              <a:t>recupera 68</a:t>
            </a:r>
            <a:r>
              <a:rPr sz="1350" b="0">
                <a:solidFill>
                  <a:srgbClr val="16202C"/>
                </a:solidFill>
                <a:latin typeface="Arial"/>
              </a:rPr>
              <a:t> (recall 0,764).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El costo son 74 falsos positivos</a:t>
            </a:r>
            <a:r>
              <a:rPr sz="1350" b="0">
                <a:solidFill>
                  <a:srgbClr val="16202C"/>
                </a:solidFill>
                <a:latin typeface="Arial"/>
              </a:rPr>
              <a:t> (precision 0,479): escuelas con condiciones para superar el nivel que no lo logran. Son, en sí mismas, un hallazgo del proyecto.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Balanced accuracy 0,744 y F1 macro 0,696</a:t>
            </a:r>
            <a:r>
              <a:rPr sz="1350" b="0">
                <a:solidFill>
                  <a:srgbClr val="16202C"/>
                </a:solidFill>
                <a:latin typeface="Arial"/>
              </a:rPr>
              <a:t>, frente a 0,500 y 0,429 del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CLASIFICACIÓN ·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>
                <a:solidFill>
                  <a:srgbClr val="1F3A5F"/>
                </a:solidFill>
                <a:latin typeface="Arial"/>
              </a:rPr>
              <a:t>Qué factores se asocian al rendimiento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57784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En la logística mandan el clima escolar y la dependencia.</a:t>
            </a:r>
            <a:r>
              <a:rPr sz="1350" b="0">
                <a:solidFill>
                  <a:srgbClr val="16202C"/>
                </a:solidFill>
                <a:latin typeface="Arial"/>
              </a:rPr>
              <a:t> Clima y convivencia 0,099, particular subvencionado 0,086, asistencia 0,063.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Los odds ratios dan la lectura sustantiva:</a:t>
            </a:r>
            <a:r>
              <a:rPr sz="1350" b="0">
                <a:solidFill>
                  <a:srgbClr val="16202C"/>
                </a:solidFill>
                <a:latin typeface="Arial"/>
              </a:rPr>
              <a:t> convivencia 1,69 y asistencia 1,64 por cada desviación estándar; los estereotipos de género juegan en contra (0,72) y el IVE también (0,75).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El % de docentes en tramo avanzado no aporta</a:t>
            </a:r>
            <a:r>
              <a:rPr sz="1350" b="0">
                <a:solidFill>
                  <a:srgbClr val="16202C"/>
                </a:solidFill>
                <a:latin typeface="Arial"/>
              </a:rPr>
              <a:t> (0,009 ± 0,010, indistinguible de cero).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SHAP sobre el Random Forest reordena, pero no cambia el elenco:</a:t>
            </a:r>
            <a:r>
              <a:rPr sz="1350" b="0">
                <a:solidFill>
                  <a:srgbClr val="16202C"/>
                </a:solidFill>
                <a:latin typeface="Arial"/>
              </a:rPr>
              <a:t> asistencia 0,100, convivencia 0,076, particular subvencionado e IVE 0,061, género 0,059.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>
                <a:solidFill>
                  <a:srgbClr val="16202C"/>
                </a:solidFill>
                <a:latin typeface="Arial"/>
              </a:rPr>
              <a:t>Los efectos tienen forma de S, no de recta.</a:t>
            </a:r>
            <a:r>
              <a:rPr sz="1350" b="0">
                <a:solidFill>
                  <a:srgbClr val="16202C"/>
                </a:solidFill>
                <a:latin typeface="Arial"/>
              </a:rPr>
              <a:t> La asistencia pesa fuerte bajo 0,80 y se aplana sobre 0,90; la convivencia hace lo mismo sobre 80 puntos. El margen está en sacar a una escuela del tramo bajo, no en llevarla de 0,92 a 0,95.</a:t>
            </a:r>
          </a:p>
        </p:txBody>
      </p:sp>
      <p:pic>
        <p:nvPicPr>
          <p:cNvPr id="6" name="Picture 5" descr="L4-6_importancia_permut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562" y="1600200"/>
            <a:ext cx="4902130" cy="2286000"/>
          </a:xfrm>
          <a:prstGeom prst="rect">
            <a:avLst/>
          </a:prstGeom>
        </p:spPr>
      </p:pic>
      <p:pic>
        <p:nvPicPr>
          <p:cNvPr id="7" name="Picture 6" descr="L4-6c_shap_beeswa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965" y="3977639"/>
            <a:ext cx="4235325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Arial"/>
              </a:rPr>
              <a:t>CLASIFICACIÓN · REVISIÓN DE CASOS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>
                <a:solidFill>
                  <a:srgbClr val="1F3A5F"/>
                </a:solidFill>
                <a:latin typeface="Arial"/>
              </a:rPr>
              <a:t>Las escuelas que el modelo no logra explicar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035040" cy="209931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21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2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21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21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21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21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21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Resultado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Conviv.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Asist.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IVE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Género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Puntaje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Acierto (insuficiente)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73,2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+0,04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224,5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Acierto (supera)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78,8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0,87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−0,13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271,9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Falso negativo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76,1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0,86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+0,11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1">
                          <a:solidFill>
                            <a:srgbClr val="16202C"/>
                          </a:solidFill>
                          <a:latin typeface="Arial"/>
                        </a:rPr>
                        <a:t>267,0</a:t>
                      </a:r>
                    </a:p>
                  </a:txBody>
                  <a:tcPr marL="64008" marR="64008" marT="18288" marB="18288"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Falso positivo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77,5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0,89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0,89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−0,09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100" b="0">
                          <a:solidFill>
                            <a:srgbClr val="16202C"/>
                          </a:solidFill>
                          <a:latin typeface="Arial"/>
                        </a:rPr>
                        <a:t>232,5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2078"/>
            <a:ext cx="60350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30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Los 21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falsos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negativos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son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corazón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de la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pregunta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de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investigación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.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Promedian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267 puntos con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condiciones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contexto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que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predicen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fracaso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0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Los 74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falsos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positivos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son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patrón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16202C"/>
                </a:solidFill>
                <a:latin typeface="Arial"/>
              </a:rPr>
              <a:t>inverso</a:t>
            </a:r>
            <a:r>
              <a:rPr sz="1300" b="1" dirty="0">
                <a:solidFill>
                  <a:srgbClr val="16202C"/>
                </a:solidFill>
                <a:latin typeface="Arial"/>
              </a:rPr>
              <a:t>: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buena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convivencia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(77,5) y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buena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asistencia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(0,89), </a:t>
            </a:r>
            <a:r>
              <a:rPr sz="1300" b="0" dirty="0" err="1">
                <a:solidFill>
                  <a:srgbClr val="16202C"/>
                </a:solidFill>
                <a:latin typeface="Arial"/>
              </a:rPr>
              <a:t>pero</a:t>
            </a:r>
            <a:r>
              <a:rPr sz="1300" b="0" dirty="0">
                <a:solidFill>
                  <a:srgbClr val="16202C"/>
                </a:solidFill>
                <a:latin typeface="Arial"/>
              </a:rPr>
              <a:t> 232 puntos.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5029200"/>
          <a:ext cx="6035040" cy="176136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Falsos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negativos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extremos</a:t>
                      </a:r>
                      <a:endParaRPr sz="9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Comuna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IVE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Puntaje</a:t>
                      </a:r>
                    </a:p>
                  </a:txBody>
                  <a:tcPr marL="64008" marR="64008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 dirty="0" err="1">
                          <a:solidFill>
                            <a:srgbClr val="16202C"/>
                          </a:solidFill>
                          <a:latin typeface="Arial"/>
                        </a:rPr>
                        <a:t>Liceo</a:t>
                      </a:r>
                      <a:r>
                        <a:rPr sz="1050" b="0" dirty="0">
                          <a:solidFill>
                            <a:srgbClr val="16202C"/>
                          </a:solidFill>
                          <a:latin typeface="Arial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6202C"/>
                          </a:solidFill>
                          <a:latin typeface="Arial"/>
                        </a:rPr>
                        <a:t>Bicent</a:t>
                      </a:r>
                      <a:r>
                        <a:rPr sz="1050" b="0" dirty="0">
                          <a:solidFill>
                            <a:srgbClr val="16202C"/>
                          </a:solidFill>
                          <a:latin typeface="Arial"/>
                        </a:rPr>
                        <a:t>. de </a:t>
                      </a:r>
                      <a:r>
                        <a:rPr sz="1050" b="0" dirty="0" err="1">
                          <a:solidFill>
                            <a:srgbClr val="16202C"/>
                          </a:solidFill>
                          <a:latin typeface="Arial"/>
                        </a:rPr>
                        <a:t>Excelencia</a:t>
                      </a:r>
                      <a:r>
                        <a:rPr sz="1050" b="0" dirty="0">
                          <a:solidFill>
                            <a:srgbClr val="16202C"/>
                          </a:solidFill>
                          <a:latin typeface="Arial"/>
                        </a:rPr>
                        <a:t> Técnica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Loncoche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0,98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 dirty="0">
                          <a:solidFill>
                            <a:srgbClr val="16202C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 dirty="0" err="1">
                          <a:solidFill>
                            <a:srgbClr val="16202C"/>
                          </a:solidFill>
                          <a:latin typeface="Arial"/>
                        </a:rPr>
                        <a:t>Liceo</a:t>
                      </a:r>
                      <a:r>
                        <a:rPr sz="1050" b="0" dirty="0">
                          <a:solidFill>
                            <a:srgbClr val="16202C"/>
                          </a:solidFill>
                          <a:latin typeface="Arial"/>
                        </a:rPr>
                        <a:t> Industrial J. T. de </a:t>
                      </a:r>
                      <a:r>
                        <a:rPr sz="1050" b="0" dirty="0" err="1">
                          <a:solidFill>
                            <a:srgbClr val="16202C"/>
                          </a:solidFill>
                          <a:latin typeface="Arial"/>
                        </a:rPr>
                        <a:t>Urmeneta</a:t>
                      </a:r>
                      <a:endParaRPr sz="1050" b="0" dirty="0">
                        <a:solidFill>
                          <a:srgbClr val="16202C"/>
                        </a:solidFill>
                        <a:latin typeface="Arial"/>
                      </a:endParaRP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Coquimbo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0,93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 dirty="0">
                          <a:solidFill>
                            <a:srgbClr val="16202C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 dirty="0">
                          <a:solidFill>
                            <a:srgbClr val="16202C"/>
                          </a:solidFill>
                          <a:latin typeface="Arial"/>
                        </a:rPr>
                        <a:t>Colegio Robinson Cabrera </a:t>
                      </a:r>
                      <a:r>
                        <a:rPr sz="1050" b="0" dirty="0" err="1">
                          <a:solidFill>
                            <a:srgbClr val="16202C"/>
                          </a:solidFill>
                          <a:latin typeface="Arial"/>
                        </a:rPr>
                        <a:t>Beltrán</a:t>
                      </a:r>
                      <a:endParaRPr sz="1050" b="0" dirty="0">
                        <a:solidFill>
                          <a:srgbClr val="16202C"/>
                        </a:solidFill>
                        <a:latin typeface="Arial"/>
                      </a:endParaRP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Retiro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0,29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>
                          <a:solidFill>
                            <a:srgbClr val="16202C"/>
                          </a:solidFill>
                          <a:latin typeface="Arial"/>
                        </a:rPr>
                        <a:t>0,97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0" dirty="0">
                          <a:solidFill>
                            <a:srgbClr val="16202C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" name="Picture 7" descr="L4-7_shap_caso_falso_negativ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846501"/>
            <a:ext cx="4858207" cy="1884838"/>
          </a:xfrm>
          <a:prstGeom prst="rect">
            <a:avLst/>
          </a:prstGeom>
        </p:spPr>
      </p:pic>
      <p:pic>
        <p:nvPicPr>
          <p:cNvPr id="9" name="Picture 8" descr="L4-7_shap_caso_falso_positiv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046282"/>
            <a:ext cx="4858207" cy="21487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dirty="0">
                <a:solidFill>
                  <a:srgbClr val="2A78D6"/>
                </a:solidFill>
                <a:latin typeface="Arial"/>
              </a:rPr>
              <a:t>CLASIFICACIÓN · IMPACTO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 dirty="0">
                <a:solidFill>
                  <a:srgbClr val="1F3A5F"/>
                </a:solidFill>
                <a:latin typeface="Arial"/>
              </a:rPr>
              <a:t>Para </a:t>
            </a:r>
            <a:r>
              <a:rPr sz="2700" b="1" dirty="0" err="1">
                <a:solidFill>
                  <a:srgbClr val="1F3A5F"/>
                </a:solidFill>
                <a:latin typeface="Arial"/>
              </a:rPr>
              <a:t>qué</a:t>
            </a:r>
            <a:r>
              <a:rPr sz="2700" b="1" dirty="0">
                <a:solidFill>
                  <a:srgbClr val="1F3A5F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F3A5F"/>
                </a:solidFill>
                <a:latin typeface="Arial"/>
              </a:rPr>
              <a:t>sirve</a:t>
            </a:r>
            <a:r>
              <a:rPr sz="2700" b="1" dirty="0">
                <a:solidFill>
                  <a:srgbClr val="1F3A5F"/>
                </a:solidFill>
                <a:latin typeface="Arial"/>
              </a:rPr>
              <a:t>: </a:t>
            </a:r>
            <a:r>
              <a:rPr sz="2700" b="1" dirty="0" err="1">
                <a:solidFill>
                  <a:srgbClr val="1F3A5F"/>
                </a:solidFill>
                <a:latin typeface="Arial"/>
              </a:rPr>
              <a:t>focalizar</a:t>
            </a:r>
            <a:r>
              <a:rPr sz="2700" b="1" dirty="0">
                <a:solidFill>
                  <a:srgbClr val="1F3A5F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F3A5F"/>
                </a:solidFill>
                <a:latin typeface="Arial"/>
              </a:rPr>
              <a:t>apoyos</a:t>
            </a:r>
            <a:r>
              <a:rPr sz="2700" b="1" dirty="0">
                <a:solidFill>
                  <a:srgbClr val="1F3A5F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F3A5F"/>
                </a:solidFill>
                <a:latin typeface="Arial"/>
              </a:rPr>
              <a:t>por</a:t>
            </a:r>
            <a:r>
              <a:rPr sz="2700" b="1" dirty="0">
                <a:solidFill>
                  <a:srgbClr val="1F3A5F"/>
                </a:solidFill>
                <a:latin typeface="Arial"/>
              </a:rPr>
              <a:t>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4-8_focalizacion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32084"/>
            <a:ext cx="6400800" cy="3308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737360"/>
            <a:ext cx="4401007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El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uso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del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modelo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no es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clasificar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, es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ordenar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.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Ordenando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por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score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ascendente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se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obtiene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una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lista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de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prioridad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de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intervención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Los 50 de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menor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score son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todos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realmente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Insuficientes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(100 %), contra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una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tasa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base de 75,1 %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si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se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eligieran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al azar. En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los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primeros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100 la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precisión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es 97 %;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los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150, 95 %.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Traducción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a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gestión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: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con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presupuesto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para 100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escuelas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,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focalizar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por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score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evita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destinar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recursos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a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unos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22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establecimientos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que no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los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necesitaban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350" b="0" dirty="0">
                <a:solidFill>
                  <a:srgbClr val="16202C"/>
                </a:solidFill>
                <a:latin typeface="Arial"/>
              </a:rPr>
              <a:t>•  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Las dos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palancas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accionables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son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clima</a:t>
            </a:r>
            <a:r>
              <a:rPr sz="1350" b="1" dirty="0">
                <a:solidFill>
                  <a:srgbClr val="16202C"/>
                </a:solidFill>
                <a:latin typeface="Arial"/>
              </a:rPr>
              <a:t> escolar y </a:t>
            </a:r>
            <a:r>
              <a:rPr sz="1350" b="1" dirty="0" err="1">
                <a:solidFill>
                  <a:srgbClr val="16202C"/>
                </a:solidFill>
                <a:latin typeface="Arial"/>
              </a:rPr>
              <a:t>asistencia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, las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únicas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que la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gestión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escolar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puede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mover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en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el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corto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plazo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 El IVE y la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dependencia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 son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contexto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, no </a:t>
            </a:r>
            <a:r>
              <a:rPr sz="1350" b="0" dirty="0" err="1">
                <a:solidFill>
                  <a:srgbClr val="16202C"/>
                </a:solidFill>
                <a:latin typeface="Arial"/>
              </a:rPr>
              <a:t>palanca</a:t>
            </a:r>
            <a:r>
              <a:rPr sz="1350" b="0" dirty="0">
                <a:solidFill>
                  <a:srgbClr val="16202C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1781</Words>
  <Application>Microsoft Macintosh PowerPoint</Application>
  <PresentationFormat>Widescreen</PresentationFormat>
  <Paragraphs>199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Verónica Canales</cp:lastModifiedBy>
  <cp:revision>2</cp:revision>
  <dcterms:created xsi:type="dcterms:W3CDTF">2013-01-27T09:14:16Z</dcterms:created>
  <dcterms:modified xsi:type="dcterms:W3CDTF">2026-09-02T03:25:39Z</dcterms:modified>
  <cp:category/>
</cp:coreProperties>
</file>