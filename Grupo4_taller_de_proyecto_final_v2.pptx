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75" r:id="rId26"/>
    <p:sldId id="276" r:id="rId27"/>
    <p:sldId id="261" r:id="rId12"/>
    <p:sldId id="262" r:id="rId13"/>
    <p:sldId id="265" r:id="rId16"/>
    <p:sldId id="263" r:id="rId14"/>
    <p:sldId id="271" r:id="rId22"/>
    <p:sldId id="264" r:id="rId15"/>
    <p:sldId id="266" r:id="rId17"/>
    <p:sldId id="272" r:id="rId23"/>
    <p:sldId id="273" r:id="rId24"/>
    <p:sldId id="274" r:id="rId25"/>
    <p:sldId id="286" r:id="rId59"/>
    <p:sldId id="287" r:id="rId60"/>
    <p:sldId id="288" r:id="rId61"/>
    <p:sldId id="289" r:id="rId62"/>
    <p:sldId id="290" r:id="rId63"/>
    <p:sldId id="291" r:id="rId64"/>
    <p:sldId id="277" r:id="rId28"/>
    <p:sldId id="278" r:id="rId29"/>
    <p:sldId id="279" r:id="rId30"/>
    <p:sldId id="280" r:id="rId31"/>
    <p:sldId id="281" r:id="rId32"/>
    <p:sldId id="282" r:id="rId33"/>
    <p:sldId id="292" r:id="rId65"/>
    <p:sldId id="293" r:id="rId66"/>
    <p:sldId id="294" r:id="rId67"/>
    <p:sldId id="283" r:id="rId34"/>
    <p:sldId id="284" r:id="rId35"/>
    <p:sldId id="285" r:id="rId36"/>
    <p:sldId id="295" r:id="rId68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aleway"/>
      <p:regular r:id="rId37"/>
      <p:bold r:id="rId38"/>
      <p:italic r:id="rId39"/>
      <p:boldItalic r:id="rId40"/>
    </p:embeddedFont>
    <p:embeddedFont>
      <p:font typeface="Raleway SemiBold"/>
      <p:regular r:id="rId41"/>
      <p:bold r:id="rId42"/>
      <p:italic r:id="rId43"/>
      <p:boldItalic r:id="rId44"/>
    </p:embeddedFont>
    <p:embeddedFont>
      <p:font typeface="Raleway ExtraBold"/>
      <p:bold r:id="rId45"/>
      <p:boldItalic r:id="rId46"/>
    </p:embeddedFont>
    <p:embeddedFont>
      <p:font typeface="Roboto"/>
      <p:regular r:id="rId47"/>
      <p:bold r:id="rId48"/>
      <p:italic r:id="rId49"/>
      <p:boldItalic r:id="rId50"/>
    </p:embeddedFont>
    <p:embeddedFont>
      <p:font typeface="Raleway Light"/>
      <p:regular r:id="rId51"/>
      <p:bold r:id="rId52"/>
      <p:italic r:id="rId53"/>
      <p:boldItalic r:id="rId54"/>
    </p:embeddedFont>
    <p:embeddedFont>
      <p:font typeface="Raleway Medium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D242BC-4F9A-43C5-B99E-CC6F9F936A56}">
  <a:tblStyle styleId="{B8D242BC-4F9A-43C5-B99E-CC6F9F936A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14AF6BE-81F6-481A-B08C-F51207E83DD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3.xml"/><Relationship Id="rId16" Type="http://schemas.openxmlformats.org/officeDocument/2006/relationships/slide" Target="slides/slide10.xml"/><Relationship Id="rId17" Type="http://schemas.openxmlformats.org/officeDocument/2006/relationships/slide" Target="slides/slide14.xml"/><Relationship Id="rId18" Type="http://schemas.openxmlformats.org/officeDocument/2006/relationships/slide" Target="slides/slide37.xml"/><Relationship Id="rId19" Type="http://schemas.openxmlformats.org/officeDocument/2006/relationships/slide" Target="slides/slide38.xml"/><Relationship Id="rId20" Type="http://schemas.openxmlformats.org/officeDocument/2006/relationships/slide" Target="slides/slide39.xml"/><Relationship Id="rId21" Type="http://schemas.openxmlformats.org/officeDocument/2006/relationships/slide" Target="slides/slide40.xml"/><Relationship Id="rId22" Type="http://schemas.openxmlformats.org/officeDocument/2006/relationships/slide" Target="slides/slide12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font" Target="fonts/Raleway-regular.fntdata"/><Relationship Id="rId38" Type="http://schemas.openxmlformats.org/officeDocument/2006/relationships/font" Target="fonts/Raleway-bold.fntdata"/><Relationship Id="rId39" Type="http://schemas.openxmlformats.org/officeDocument/2006/relationships/font" Target="fonts/Raleway-italic.fntdata"/><Relationship Id="rId40" Type="http://schemas.openxmlformats.org/officeDocument/2006/relationships/font" Target="fonts/Raleway-boldItalic.fntdata"/><Relationship Id="rId41" Type="http://schemas.openxmlformats.org/officeDocument/2006/relationships/font" Target="fonts/RalewaySemiBold-regular.fntdata"/><Relationship Id="rId42" Type="http://schemas.openxmlformats.org/officeDocument/2006/relationships/font" Target="fonts/RalewaySemiBold-bold.fntdata"/><Relationship Id="rId43" Type="http://schemas.openxmlformats.org/officeDocument/2006/relationships/font" Target="fonts/RalewaySemiBold-italic.fntdata"/><Relationship Id="rId44" Type="http://schemas.openxmlformats.org/officeDocument/2006/relationships/font" Target="fonts/RalewaySemiBold-boldItalic.fntdata"/><Relationship Id="rId45" Type="http://schemas.openxmlformats.org/officeDocument/2006/relationships/font" Target="fonts/RalewayExtraBold-bold.fntdata"/><Relationship Id="rId46" Type="http://schemas.openxmlformats.org/officeDocument/2006/relationships/font" Target="fonts/RalewayExtraBold-boldItalic.fntdata"/><Relationship Id="rId47" Type="http://schemas.openxmlformats.org/officeDocument/2006/relationships/font" Target="fonts/Roboto-regular.fntdata"/><Relationship Id="rId48" Type="http://schemas.openxmlformats.org/officeDocument/2006/relationships/font" Target="fonts/Roboto-bold.fntdata"/><Relationship Id="rId49" Type="http://schemas.openxmlformats.org/officeDocument/2006/relationships/font" Target="fonts/Roboto-italic.fntdata"/><Relationship Id="rId50" Type="http://schemas.openxmlformats.org/officeDocument/2006/relationships/font" Target="fonts/Roboto-boldItalic.fntdata"/><Relationship Id="rId51" Type="http://schemas.openxmlformats.org/officeDocument/2006/relationships/font" Target="fonts/RalewayLight-regular.fntdata"/><Relationship Id="rId52" Type="http://schemas.openxmlformats.org/officeDocument/2006/relationships/font" Target="fonts/RalewayLight-bold.fntdata"/><Relationship Id="rId53" Type="http://schemas.openxmlformats.org/officeDocument/2006/relationships/font" Target="fonts/RalewayLight-italic.fntdata"/><Relationship Id="rId54" Type="http://schemas.openxmlformats.org/officeDocument/2006/relationships/font" Target="fonts/RalewayLight-boldItalic.fntdata"/><Relationship Id="rId55" Type="http://schemas.openxmlformats.org/officeDocument/2006/relationships/font" Target="fonts/RalewayMedium-regular.fntdata"/><Relationship Id="rId56" Type="http://schemas.openxmlformats.org/officeDocument/2006/relationships/font" Target="fonts/RalewayMedium-bold.fntdata"/><Relationship Id="rId57" Type="http://schemas.openxmlformats.org/officeDocument/2006/relationships/font" Target="fonts/RalewayMedium-italic.fntdata"/><Relationship Id="rId58" Type="http://schemas.openxmlformats.org/officeDocument/2006/relationships/font" Target="fonts/RalewayMedium-boldItalic.fntdata"/><Relationship Id="rId59" Type="http://schemas.openxmlformats.org/officeDocument/2006/relationships/slide" Target="slides/slide18.xml"/><Relationship Id="rId60" Type="http://schemas.openxmlformats.org/officeDocument/2006/relationships/slide" Target="slides/slide19.xml"/><Relationship Id="rId61" Type="http://schemas.openxmlformats.org/officeDocument/2006/relationships/slide" Target="slides/slide20.xml"/><Relationship Id="rId62" Type="http://schemas.openxmlformats.org/officeDocument/2006/relationships/slide" Target="slides/slide21.xml"/><Relationship Id="rId63" Type="http://schemas.openxmlformats.org/officeDocument/2006/relationships/slide" Target="slides/slide22.xml"/><Relationship Id="rId64" Type="http://schemas.openxmlformats.org/officeDocument/2006/relationships/slide" Target="slides/slide23.xml"/><Relationship Id="rId65" Type="http://schemas.openxmlformats.org/officeDocument/2006/relationships/slide" Target="slides/slide30.xml"/><Relationship Id="rId66" Type="http://schemas.openxmlformats.org/officeDocument/2006/relationships/slide" Target="slides/slide31.xml"/><Relationship Id="rId67" Type="http://schemas.openxmlformats.org/officeDocument/2006/relationships/slide" Target="slides/slide32.xml"/><Relationship Id="rId68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62f0515c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62f0515c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97a329588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97a329588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645681ccb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645681ccb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645681cc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645681cc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645681ccb_0_1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645681ccb_0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9c55b52f7_0_1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9c55b52f7_0_1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9c55b52f7_0_2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9c55b52f7_0_2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9c55b52f7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9c55b52f7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4119b2a66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4119b2a6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8b5c910b3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8b5c910b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8b5c910b3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8b5c910b3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8b5c910b3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8b5c910b3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4119b2a6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4119b2a6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9c55b52f7_0_2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9c55b52f7_0_2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8b5c910b3_0_1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8b5c910b3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8b5c910b3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8b5c910b3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8b5c910b3_0_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8b5c910b3_0_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8b5c910b3_0_1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8b5c910b3_0_1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8b5c910b3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8b5c910b3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4119b2a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4119b2a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4119b2a6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4119b2a6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8babe5ba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8babe5ba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8b5c910b3_0_1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f8b5c910b3_0_1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8babe5baf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f8babe5baf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8babe5baf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f8babe5baf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8b5c910b3_0_1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8b5c910b3_0_1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8babe5baf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f8babe5baf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990845b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f990845b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990845bad_18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f990845bad_18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990845bad_18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f990845bad_18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(g3f62f0515cd_13_0)">
  <p:cSld name="Diapositiva de título (g3f62f0515cd_13_0)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64697dbeb_17_0)">
  <p:cSld name="Generated (g3f64697dbeb_17_0)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29.png"/><Relationship Id="rId5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archivos.agenciaeducacion.cl/Metodologia_de_Construccion_de_Grupos_Socioeconomicos_Simce_2013.pdf" TargetMode="External"/><Relationship Id="rId4" Type="http://schemas.openxmlformats.org/officeDocument/2006/relationships/hyperlink" Target="https://archivos.agenciaeducacion.cl/Libro_Guia_Metodologica_Uso_de_Datos_2020.pdf" TargetMode="External"/><Relationship Id="rId5" Type="http://schemas.openxmlformats.org/officeDocument/2006/relationships/hyperlink" Target="https://s3.us-east-1.amazonaws.com/archivos.agenciaeducacion.cl/Informe_Tecnico_2024.pdf" TargetMode="External"/><Relationship Id="rId6" Type="http://schemas.openxmlformats.org/officeDocument/2006/relationships/hyperlink" Target="https://s3.us-east-1.amazonaws.com/archivos.agenciaeducacion.cl/IDPS_Informe-tecnico-2024.pdf" TargetMode="External"/><Relationship Id="rId7" Type="http://schemas.openxmlformats.org/officeDocument/2006/relationships/hyperlink" Target="https://www.agenciaeducacion.cl/" TargetMode="External"/><Relationship Id="rId8" Type="http://schemas.openxmlformats.org/officeDocument/2006/relationships/hyperlink" Target="https://www.agenciaeducacion.cl/" TargetMode="External"/><Relationship Id="rId9" Type="http://schemas.openxmlformats.org/officeDocument/2006/relationships/hyperlink" Target="https://www.agenciaeducacion.cl/" TargetMode="External"/><Relationship Id="rId10" Type="http://schemas.openxmlformats.org/officeDocument/2006/relationships/hyperlink" Target="https://www.agenciaeducacion.cl/" TargetMode="External"/><Relationship Id="rId11" Type="http://schemas.openxmlformats.org/officeDocument/2006/relationships/hyperlink" Target="https://doi.org/10.5334/dsj-2015-002" TargetMode="External"/><Relationship Id="rId12" Type="http://schemas.openxmlformats.org/officeDocument/2006/relationships/hyperlink" Target="https://doi.org/10.5334/dsj-2015-002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oi.org/10.7203/RASE.9.1.8400" TargetMode="External"/><Relationship Id="rId4" Type="http://schemas.openxmlformats.org/officeDocument/2006/relationships/hyperlink" Target="https://doi.org/10.7203/RASE.9.1.8400" TargetMode="External"/><Relationship Id="rId5" Type="http://schemas.openxmlformats.org/officeDocument/2006/relationships/hyperlink" Target="https://drive.google.com/file/d/1EbPf3O7McBetNWfGU2AJ_oTQv1C7RKcU/view" TargetMode="External"/><Relationship Id="rId6" Type="http://schemas.openxmlformats.org/officeDocument/2006/relationships/hyperlink" Target="https://drive.google.com/file/d/1EbPf3O7McBetNWfGU2AJ_oTQv1C7RKcU/view" TargetMode="External"/><Relationship Id="rId7" Type="http://schemas.openxmlformats.org/officeDocument/2006/relationships/hyperlink" Target="https://doi.org/10.1002/berj.3599" TargetMode="External"/><Relationship Id="rId8" Type="http://schemas.openxmlformats.org/officeDocument/2006/relationships/hyperlink" Target="https://doi.org/10.1002/berj.3599" TargetMode="External"/><Relationship Id="rId9" Type="http://schemas.openxmlformats.org/officeDocument/2006/relationships/hyperlink" Target="https://www.latercera.com/diario-impreso/resultados-individuales-del-simce/" TargetMode="External"/><Relationship Id="rId10" Type="http://schemas.openxmlformats.org/officeDocument/2006/relationships/hyperlink" Target="https://www.latercera.com/diario-impreso/resultados-individuales-del-simce/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571500" y="857250"/>
            <a:ext cx="47625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500"/>
              </a:spcAft>
              <a:buNone/>
            </a:pPr>
            <a:r>
              <a:rPr b="0" lang="es-419" sz="3800">
                <a:solidFill>
                  <a:srgbClr val="D6B4FC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Factores</a:t>
            </a:r>
            <a:r>
              <a:rPr b="0" lang="es-419" sz="38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que inciden en el logro de </a:t>
            </a:r>
            <a:r>
              <a:rPr b="0" lang="es-419" sz="3800">
                <a:solidFill>
                  <a:srgbClr val="D6B4FC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aprendizaje</a:t>
            </a:r>
            <a:r>
              <a:rPr lang="es-419" sz="38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en escuelas con bajo nivel socioeconómico</a:t>
            </a:r>
            <a:endParaRPr b="0" sz="2000">
              <a:solidFill>
                <a:srgbClr val="A992C4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6000750" y="857250"/>
            <a:ext cx="2286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900">
                <a:solidFill>
                  <a:srgbClr val="D6B4F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Taller de proyecto</a:t>
            </a:r>
            <a:endParaRPr b="1" sz="900">
              <a:solidFill>
                <a:srgbClr val="D6B4F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Grupo 4</a:t>
            </a:r>
            <a:endParaRPr b="1" sz="18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419" sz="800">
                <a:solidFill>
                  <a:srgbClr val="A992C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Integrantes</a:t>
            </a:r>
            <a:endParaRPr b="0" sz="800">
              <a:solidFill>
                <a:srgbClr val="A992C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Felipe Riquelme Becerra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Jorge Sepúlveda Sepúlveda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Manuel Sanhueza Moncada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Osvaldo Vázquez Ortega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750"/>
              </a:spcBef>
              <a:spcAft>
                <a:spcPts val="75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Verónica Canales Guerrero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problema</a:t>
            </a:r>
            <a:endParaRPr/>
          </a:p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152475"/>
            <a:ext cx="2787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5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Chile, el rendimiento académico de los estudiantes está</a:t>
            </a: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s-419" sz="1500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fuertemente asociado </a:t>
            </a:r>
            <a:r>
              <a:rPr lang="es-419" sz="15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 el nivel socioeconómico.</a:t>
            </a:r>
            <a:endParaRPr b="1" sz="150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0" y="4876565"/>
            <a:ext cx="914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Fuente: Elaboración propia a partir de bases de datos del proceso del Simce 2° medio 2024. Ministerio de Educación.</a:t>
            </a:r>
            <a:endParaRPr sz="65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400" y="1220825"/>
            <a:ext cx="5740201" cy="283817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17"/>
          <p:cNvGrpSpPr/>
          <p:nvPr/>
        </p:nvGrpSpPr>
        <p:grpSpPr>
          <a:xfrm>
            <a:off x="571500" y="571500"/>
            <a:ext cx="8001000" cy="4000500"/>
            <a:chOff x="571500" y="571500"/>
            <a:chExt cx="8001000" cy="4000500"/>
          </a:xfrm>
        </p:grpSpPr>
        <p:sp>
          <p:nvSpPr>
            <p:cNvPr id="78" name="Google Shape;78;p17"/>
            <p:cNvSpPr txBox="1"/>
            <p:nvPr/>
          </p:nvSpPr>
          <p:spPr>
            <a:xfrm>
              <a:off x="571500" y="1923475"/>
              <a:ext cx="4000500" cy="1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0" lang="es-419" sz="15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No obstante, existen investigaciones que muestran que </a:t>
              </a:r>
              <a:r>
                <a:rPr b="1" lang="es-419" sz="1500">
                  <a:solidFill>
                    <a:srgbClr val="2563EB"/>
                  </a:solidFill>
                  <a:latin typeface="Roboto"/>
                  <a:ea typeface="Roboto"/>
                  <a:cs typeface="Roboto"/>
                  <a:sym typeface="Roboto"/>
                </a:rPr>
                <a:t>ciertas escuelas logran superar sus condiciones de partida</a:t>
              </a:r>
              <a:r>
                <a:rPr b="0" lang="es-419" sz="15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 y obtienen resultados superiores a los esperados en su contexto.</a:t>
              </a:r>
              <a:endParaRPr b="0" sz="15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79" name="Google Shape;79;p17"/>
            <p:cNvGrpSpPr/>
            <p:nvPr/>
          </p:nvGrpSpPr>
          <p:grpSpPr>
            <a:xfrm>
              <a:off x="4953000" y="571500"/>
              <a:ext cx="3619500" cy="4000500"/>
              <a:chOff x="4953000" y="571500"/>
              <a:chExt cx="3619500" cy="4000500"/>
            </a:xfrm>
          </p:grpSpPr>
          <p:sp>
            <p:nvSpPr>
              <p:cNvPr id="80" name="Google Shape;80;p17"/>
              <p:cNvSpPr/>
              <p:nvPr/>
            </p:nvSpPr>
            <p:spPr>
              <a:xfrm>
                <a:off x="4953000" y="571500"/>
                <a:ext cx="3619500" cy="4000500"/>
              </a:xfrm>
              <a:prstGeom prst="roundRect">
                <a:avLst>
                  <a:gd fmla="val 421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7"/>
              <p:cNvSpPr txBox="1"/>
              <p:nvPr/>
            </p:nvSpPr>
            <p:spPr>
              <a:xfrm>
                <a:off x="5143500" y="3429000"/>
                <a:ext cx="3238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b="1" lang="es-419">
                    <a:solidFill>
                      <a:srgbClr val="1E293B"/>
                    </a:solidFill>
                    <a:latin typeface="Roboto"/>
                    <a:ea typeface="Roboto"/>
                    <a:cs typeface="Roboto"/>
                    <a:sym typeface="Roboto"/>
                  </a:rPr>
                  <a:t>¿Quién dijo que no se puede?</a:t>
                </a:r>
                <a:endParaRPr b="1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id="82" name="Google Shape;82;p17"/>
          <p:cNvPicPr preferRelativeResize="0"/>
          <p:nvPr/>
        </p:nvPicPr>
        <p:blipFill rotWithShape="1">
          <a:blip r:embed="rId4">
            <a:alphaModFix/>
          </a:blip>
          <a:srcRect b="0" l="7118" r="7126" t="0"/>
          <a:stretch/>
        </p:blipFill>
        <p:spPr>
          <a:xfrm>
            <a:off x="5143500" y="857250"/>
            <a:ext cx="3238500" cy="2476500"/>
          </a:xfrm>
          <a:prstGeom prst="roundRect">
            <a:avLst>
              <a:gd fmla="val 3076" name="adj"/>
            </a:avLst>
          </a:prstGeom>
          <a:noFill/>
          <a:ln>
            <a:noFill/>
          </a:ln>
        </p:spPr>
      </p:pic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problema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5262750" y="34408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Bellei, C., Muñoz, G., Pérez, L.M. y Raczynski, D. (2004)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/>
        </p:nvSpPr>
        <p:spPr>
          <a:xfrm>
            <a:off x="571500" y="1714500"/>
            <a:ext cx="57300" cy="19050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/>
        </p:nvSpPr>
        <p:spPr>
          <a:xfrm>
            <a:off x="857250" y="1524000"/>
            <a:ext cx="7620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Pregunta de investigación</a:t>
            </a:r>
            <a:endParaRPr b="1" sz="1100">
              <a:solidFill>
                <a:srgbClr val="2563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s-419" sz="2400">
                <a:solidFill>
                  <a:srgbClr val="1E293B"/>
                </a:solidFill>
                <a:latin typeface="Raleway Light"/>
                <a:ea typeface="Raleway Light"/>
                <a:cs typeface="Raleway Light"/>
                <a:sym typeface="Raleway Light"/>
              </a:rPr>
              <a:t>¿Qué </a:t>
            </a:r>
            <a:r>
              <a:rPr b="1" lang="es-419" sz="24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caracteriza</a:t>
            </a:r>
            <a:r>
              <a:rPr b="0" lang="es-419" sz="2400">
                <a:solidFill>
                  <a:srgbClr val="1E293B"/>
                </a:solidFill>
                <a:latin typeface="Raleway Light"/>
                <a:ea typeface="Raleway Light"/>
                <a:cs typeface="Raleway Light"/>
                <a:sym typeface="Raleway Light"/>
              </a:rPr>
              <a:t> a las escuelas de un nivel socioeconómico bajo que alcanzan </a:t>
            </a:r>
            <a:r>
              <a:rPr b="1" lang="es-419" sz="24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mejores logros de aprendizaje</a:t>
            </a:r>
            <a:r>
              <a:rPr b="0" lang="es-419" sz="2400">
                <a:solidFill>
                  <a:srgbClr val="1E293B"/>
                </a:solidFill>
                <a:latin typeface="Raleway Light"/>
                <a:ea typeface="Raleway Light"/>
                <a:cs typeface="Raleway Light"/>
                <a:sym typeface="Raleway Light"/>
              </a:rPr>
              <a:t> que otras escuelas en condiciones similares?</a:t>
            </a:r>
            <a:endParaRPr b="0" sz="2400">
              <a:solidFill>
                <a:srgbClr val="1E293B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476250" y="38100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rgbClr val="1E293B"/>
                </a:solidFill>
                <a:latin typeface="Raleway"/>
                <a:ea typeface="Raleway"/>
                <a:cs typeface="Raleway"/>
                <a:sym typeface="Raleway"/>
              </a:rPr>
              <a:t>Objetivo</a:t>
            </a:r>
            <a:endParaRPr b="1" sz="3000">
              <a:solidFill>
                <a:srgbClr val="1E293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96" name="Google Shape;96;p19"/>
          <p:cNvGrpSpPr/>
          <p:nvPr/>
        </p:nvGrpSpPr>
        <p:grpSpPr>
          <a:xfrm>
            <a:off x="476250" y="1095375"/>
            <a:ext cx="8191350" cy="1143000"/>
            <a:chOff x="476250" y="1095375"/>
            <a:chExt cx="8191350" cy="1143000"/>
          </a:xfrm>
        </p:grpSpPr>
        <p:sp>
          <p:nvSpPr>
            <p:cNvPr id="97" name="Google Shape;97;p19"/>
            <p:cNvSpPr/>
            <p:nvPr/>
          </p:nvSpPr>
          <p:spPr>
            <a:xfrm>
              <a:off x="476250" y="1143000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9"/>
            <p:cNvSpPr txBox="1"/>
            <p:nvPr/>
          </p:nvSpPr>
          <p:spPr>
            <a:xfrm>
              <a:off x="723900" y="1095375"/>
              <a:ext cx="7943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2000">
                  <a:solidFill>
                    <a:srgbClr val="1E293B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Identificar los factores asociados a </a:t>
              </a:r>
              <a:r>
                <a:rPr b="1" lang="es-419" sz="2000">
                  <a:solidFill>
                    <a:srgbClr val="2563EB"/>
                  </a:solidFill>
                  <a:latin typeface="Raleway"/>
                  <a:ea typeface="Raleway"/>
                  <a:cs typeface="Raleway"/>
                  <a:sym typeface="Raleway"/>
                </a:rPr>
                <a:t>mejores logros SIMCE</a:t>
              </a:r>
              <a:r>
                <a:rPr b="0" lang="es-419" sz="2000">
                  <a:solidFill>
                    <a:srgbClr val="1E293B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 en establecimientos de </a:t>
              </a:r>
              <a:r>
                <a:rPr lang="es-419" sz="2000">
                  <a:solidFill>
                    <a:srgbClr val="1E293B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G</a:t>
              </a:r>
              <a:r>
                <a:rPr b="0" lang="es-419" sz="2000">
                  <a:solidFill>
                    <a:srgbClr val="1E293B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SE bajo y medio-bajo, mediante </a:t>
              </a:r>
              <a:r>
                <a:rPr b="1" lang="es-419" sz="20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rPr>
                <a:t>perfilamiento </a:t>
              </a:r>
              <a:r>
                <a:rPr lang="es-419" sz="20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rPr>
                <a:t>(clustering)</a:t>
              </a:r>
              <a:r>
                <a:rPr b="0" lang="es-419" sz="2000">
                  <a:solidFill>
                    <a:srgbClr val="1E293B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 y </a:t>
              </a:r>
              <a:r>
                <a:rPr b="1" lang="es-419" sz="20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rPr>
                <a:t>modelos de clasificación</a:t>
              </a:r>
              <a:r>
                <a:rPr b="0" lang="es-419" sz="2000">
                  <a:solidFill>
                    <a:srgbClr val="1E293B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.</a:t>
              </a:r>
              <a:endParaRPr b="0" sz="2000">
                <a:solidFill>
                  <a:srgbClr val="1E293B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</p:grpSp>
      <p:grpSp>
        <p:nvGrpSpPr>
          <p:cNvPr id="99" name="Google Shape;99;p19"/>
          <p:cNvGrpSpPr/>
          <p:nvPr/>
        </p:nvGrpSpPr>
        <p:grpSpPr>
          <a:xfrm>
            <a:off x="476250" y="2609850"/>
            <a:ext cx="3905400" cy="2000250"/>
            <a:chOff x="476250" y="2609850"/>
            <a:chExt cx="3905400" cy="2000250"/>
          </a:xfrm>
        </p:grpSpPr>
        <p:sp>
          <p:nvSpPr>
            <p:cNvPr id="100" name="Google Shape;100;p19"/>
            <p:cNvSpPr/>
            <p:nvPr/>
          </p:nvSpPr>
          <p:spPr>
            <a:xfrm>
              <a:off x="476250" y="260985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476250" y="2667000"/>
              <a:ext cx="3905400" cy="1943100"/>
            </a:xfrm>
            <a:prstGeom prst="roundRect">
              <a:avLst>
                <a:gd fmla="val 392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9"/>
            <p:cNvSpPr txBox="1"/>
            <p:nvPr/>
          </p:nvSpPr>
          <p:spPr>
            <a:xfrm>
              <a:off x="714375" y="2857500"/>
              <a:ext cx="3429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00">
                  <a:solidFill>
                    <a:srgbClr val="2563EB"/>
                  </a:solidFill>
                  <a:latin typeface="Roboto"/>
                  <a:ea typeface="Roboto"/>
                  <a:cs typeface="Roboto"/>
                  <a:sym typeface="Roboto"/>
                </a:rPr>
                <a:t>Entidad a analizar</a:t>
              </a:r>
              <a:endParaRPr b="1" sz="1100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600">
                  <a:solidFill>
                    <a:srgbClr val="1E293B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Establecimientos educacionales con enseñanza media</a:t>
              </a:r>
              <a:endParaRPr b="0" sz="1600">
                <a:solidFill>
                  <a:srgbClr val="1E293B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103" name="Google Shape;103;p19"/>
          <p:cNvGrpSpPr/>
          <p:nvPr/>
        </p:nvGrpSpPr>
        <p:grpSpPr>
          <a:xfrm>
            <a:off x="4762500" y="2609850"/>
            <a:ext cx="3905400" cy="2000250"/>
            <a:chOff x="4762500" y="2609850"/>
            <a:chExt cx="3905400" cy="2000250"/>
          </a:xfrm>
        </p:grpSpPr>
        <p:sp>
          <p:nvSpPr>
            <p:cNvPr id="104" name="Google Shape;104;p19"/>
            <p:cNvSpPr/>
            <p:nvPr/>
          </p:nvSpPr>
          <p:spPr>
            <a:xfrm>
              <a:off x="4762500" y="260985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9"/>
            <p:cNvSpPr/>
            <p:nvPr/>
          </p:nvSpPr>
          <p:spPr>
            <a:xfrm>
              <a:off x="4762500" y="2667000"/>
              <a:ext cx="3905400" cy="1943100"/>
            </a:xfrm>
            <a:prstGeom prst="roundRect">
              <a:avLst>
                <a:gd fmla="val 392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9"/>
            <p:cNvSpPr txBox="1"/>
            <p:nvPr/>
          </p:nvSpPr>
          <p:spPr>
            <a:xfrm>
              <a:off x="5000625" y="2857500"/>
              <a:ext cx="3429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Comportamiento a estudiar</a:t>
              </a:r>
              <a:endParaRPr b="1" sz="11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600">
                  <a:solidFill>
                    <a:srgbClr val="1E293B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Logro de aprendizaje SIMCE Matemática 2°M en escuelas GSE bajo/medio-bajo</a:t>
              </a:r>
              <a:endParaRPr b="0" sz="1600">
                <a:solidFill>
                  <a:srgbClr val="1E293B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/>
          <p:nvPr/>
        </p:nvSpPr>
        <p:spPr>
          <a:xfrm>
            <a:off x="2314200" y="3891475"/>
            <a:ext cx="4432200" cy="1130400"/>
          </a:xfrm>
          <a:prstGeom prst="roundRect">
            <a:avLst>
              <a:gd fmla="val 4615" name="adj"/>
            </a:avLst>
          </a:prstGeom>
          <a:solidFill>
            <a:srgbClr val="F9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4"/>
          <p:cNvSpPr txBox="1"/>
          <p:nvPr>
            <p:ph type="title"/>
          </p:nvPr>
        </p:nvSpPr>
        <p:spPr>
          <a:xfrm>
            <a:off x="311700" y="285750"/>
            <a:ext cx="85206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¿Cuál es el perfil de estas escuelas?</a:t>
            </a:r>
            <a:r>
              <a:rPr b="1"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67" name="Google Shape;267;p34"/>
          <p:cNvGrpSpPr/>
          <p:nvPr/>
        </p:nvGrpSpPr>
        <p:grpSpPr>
          <a:xfrm>
            <a:off x="381000" y="1047750"/>
            <a:ext cx="8382000" cy="2679650"/>
            <a:chOff x="381000" y="1047750"/>
            <a:chExt cx="8382000" cy="2679650"/>
          </a:xfrm>
        </p:grpSpPr>
        <p:sp>
          <p:nvSpPr>
            <p:cNvPr id="268" name="Google Shape;268;p34"/>
            <p:cNvSpPr/>
            <p:nvPr/>
          </p:nvSpPr>
          <p:spPr>
            <a:xfrm>
              <a:off x="381000" y="1047750"/>
              <a:ext cx="4000500" cy="1410600"/>
            </a:xfrm>
            <a:prstGeom prst="roundRect">
              <a:avLst>
                <a:gd fmla="val 3529" name="adj"/>
              </a:avLst>
            </a:prstGeom>
            <a:solidFill>
              <a:srgbClr val="F9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4"/>
            <p:cNvSpPr/>
            <p:nvPr/>
          </p:nvSpPr>
          <p:spPr>
            <a:xfrm>
              <a:off x="381000" y="104775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F9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4"/>
            <p:cNvSpPr/>
            <p:nvPr/>
          </p:nvSpPr>
          <p:spPr>
            <a:xfrm>
              <a:off x="381000" y="2596950"/>
              <a:ext cx="4000500" cy="1130400"/>
            </a:xfrm>
            <a:prstGeom prst="roundRect">
              <a:avLst>
                <a:gd fmla="val 3529" name="adj"/>
              </a:avLst>
            </a:prstGeom>
            <a:solidFill>
              <a:srgbClr val="F9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4"/>
            <p:cNvSpPr/>
            <p:nvPr/>
          </p:nvSpPr>
          <p:spPr>
            <a:xfrm>
              <a:off x="381000" y="2857500"/>
              <a:ext cx="4000500" cy="38100"/>
            </a:xfrm>
            <a:prstGeom prst="roundRect">
              <a:avLst>
                <a:gd fmla="val 50000" name="adj"/>
              </a:avLst>
            </a:prstGeom>
            <a:solidFill>
              <a:srgbClr val="F9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4"/>
            <p:cNvSpPr/>
            <p:nvPr/>
          </p:nvSpPr>
          <p:spPr>
            <a:xfrm>
              <a:off x="4572000" y="1047750"/>
              <a:ext cx="4191000" cy="1410600"/>
            </a:xfrm>
            <a:prstGeom prst="roundRect">
              <a:avLst>
                <a:gd fmla="val 2857" name="adj"/>
              </a:avLst>
            </a:prstGeom>
            <a:solidFill>
              <a:srgbClr val="F9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4"/>
            <p:cNvSpPr/>
            <p:nvPr/>
          </p:nvSpPr>
          <p:spPr>
            <a:xfrm>
              <a:off x="4572000" y="1047750"/>
              <a:ext cx="4191000" cy="38100"/>
            </a:xfrm>
            <a:prstGeom prst="roundRect">
              <a:avLst>
                <a:gd fmla="val 50000" name="adj"/>
              </a:avLst>
            </a:prstGeom>
            <a:solidFill>
              <a:srgbClr val="F9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4"/>
            <p:cNvSpPr/>
            <p:nvPr/>
          </p:nvSpPr>
          <p:spPr>
            <a:xfrm>
              <a:off x="4572000" y="2597000"/>
              <a:ext cx="4191000" cy="1130400"/>
            </a:xfrm>
            <a:prstGeom prst="roundRect">
              <a:avLst>
                <a:gd fmla="val 4615" name="adj"/>
              </a:avLst>
            </a:prstGeom>
            <a:solidFill>
              <a:srgbClr val="F9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4"/>
            <p:cNvSpPr/>
            <p:nvPr/>
          </p:nvSpPr>
          <p:spPr>
            <a:xfrm>
              <a:off x="4572000" y="3238500"/>
              <a:ext cx="4191000" cy="38100"/>
            </a:xfrm>
            <a:prstGeom prst="roundRect">
              <a:avLst>
                <a:gd fmla="val 50000" name="adj"/>
              </a:avLst>
            </a:prstGeom>
            <a:solidFill>
              <a:srgbClr val="F9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76" name="Google Shape;27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285875"/>
            <a:ext cx="476400" cy="47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7" name="Google Shape;277;p34"/>
          <p:cNvGrpSpPr/>
          <p:nvPr/>
        </p:nvGrpSpPr>
        <p:grpSpPr>
          <a:xfrm>
            <a:off x="1238250" y="1157226"/>
            <a:ext cx="7334250" cy="2609554"/>
            <a:chOff x="1238250" y="1157226"/>
            <a:chExt cx="7334250" cy="2609554"/>
          </a:xfrm>
        </p:grpSpPr>
        <p:sp>
          <p:nvSpPr>
            <p:cNvPr id="278" name="Google Shape;278;p34"/>
            <p:cNvSpPr txBox="1"/>
            <p:nvPr/>
          </p:nvSpPr>
          <p:spPr>
            <a:xfrm>
              <a:off x="1238250" y="1163906"/>
              <a:ext cx="2952900" cy="11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Objetivo</a:t>
              </a:r>
              <a:endParaRPr b="1" sz="130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Identificar perfiles de establecimientos de NSE bajo y medio-bajo según sus características de proceso y contexto, para luego ver qué perfiles se asocian a mejores logros.</a:t>
              </a:r>
              <a:endParaRPr b="0" sz="110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79" name="Google Shape;279;p34"/>
            <p:cNvSpPr txBox="1"/>
            <p:nvPr/>
          </p:nvSpPr>
          <p:spPr>
            <a:xfrm>
              <a:off x="1238250" y="2706454"/>
              <a:ext cx="2952900" cy="9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Entidad a agrupar</a:t>
              </a:r>
              <a:endParaRPr b="1" sz="130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Establecimiento educacional de enseñanza media (llave: RBD), filtrado al subconjunto de NSE bajo y medio-bajo.</a:t>
              </a:r>
              <a:endParaRPr b="0" sz="110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80" name="Google Shape;280;p34"/>
            <p:cNvSpPr txBox="1"/>
            <p:nvPr/>
          </p:nvSpPr>
          <p:spPr>
            <a:xfrm>
              <a:off x="4762500" y="1157226"/>
              <a:ext cx="3810000" cy="128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Variables de agrupación</a:t>
              </a:r>
              <a:endParaRPr b="1" sz="130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1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Proceso escolar:</a:t>
              </a:r>
              <a:r>
                <a:rPr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clima y convivencia escolar, tasa de asistencia de 2° medio y</a:t>
              </a:r>
              <a:endParaRPr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estereotipos de género del estudiantado (3 variables).</a:t>
              </a:r>
              <a:endParaRPr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s-419" sz="950">
                  <a:solidFill>
                    <a:srgbClr val="64748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Fuera del agrupamiento: el resultado (puntaje, target) y el contexto (IVE, dotación docente), reservados para verificar después si los grupos quedan comparables.</a:t>
              </a:r>
              <a:endParaRPr i="1" sz="950">
                <a:solidFill>
                  <a:srgbClr val="64748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81" name="Google Shape;281;p34"/>
            <p:cNvSpPr txBox="1"/>
            <p:nvPr/>
          </p:nvSpPr>
          <p:spPr>
            <a:xfrm>
              <a:off x="4762500" y="2766580"/>
              <a:ext cx="38100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10B98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Algoritmos</a:t>
              </a:r>
              <a:endParaRPr b="1" sz="1300">
                <a:solidFill>
                  <a:srgbClr val="10B98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1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K-Means</a:t>
              </a:r>
              <a:r>
                <a:rPr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(modelo final, k=2)</a:t>
              </a:r>
              <a:endParaRPr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1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Aglomerativo (Ward)</a:t>
              </a:r>
              <a:r>
                <a:rPr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(contraste de método)</a:t>
              </a:r>
              <a:endParaRPr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1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Gaussian Mixture (verificación de estabilidad)</a:t>
              </a:r>
              <a:endParaRPr b="1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45720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pic>
        <p:nvPicPr>
          <p:cNvPr id="282" name="Google Shape;28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213" y="2729850"/>
            <a:ext cx="556975" cy="56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4"/>
          <p:cNvSpPr txBox="1"/>
          <p:nvPr/>
        </p:nvSpPr>
        <p:spPr>
          <a:xfrm>
            <a:off x="2385440" y="3901050"/>
            <a:ext cx="4389600" cy="1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A992C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Selección de k y evaluación:</a:t>
            </a:r>
            <a:endParaRPr b="1" sz="1300">
              <a:solidFill>
                <a:srgbClr val="A992C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Source Sans Pro"/>
              <a:buChar char="●"/>
            </a:pPr>
            <a:r>
              <a:rPr lang="es-419" sz="105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Cuantitativa: silhouette, Davies-Bouldin, Calinski-Harabasz.</a:t>
            </a:r>
            <a:endParaRPr sz="105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Source Sans Pro"/>
              <a:buChar char="●"/>
            </a:pPr>
            <a:r>
              <a:rPr lang="es-419" sz="105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Estabilidad: 20 semillas y contraste entre algoritmos (ARI).</a:t>
            </a:r>
            <a:endParaRPr sz="105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Source Sans Pro"/>
              <a:buChar char="●"/>
            </a:pPr>
            <a:r>
              <a:rPr lang="es-419" sz="105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Regla fijada antes de mirar: se adopta el máximo de silhouette.</a:t>
            </a:r>
            <a:endParaRPr sz="105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4" name="Google Shape;284;p34"/>
          <p:cNvSpPr txBox="1"/>
          <p:nvPr/>
        </p:nvSpPr>
        <p:spPr>
          <a:xfrm>
            <a:off x="614400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1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Tarea de clustering</a:t>
            </a:r>
            <a:endParaRPr b="1" sz="11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"/>
          <p:cNvSpPr txBox="1"/>
          <p:nvPr>
            <p:ph type="title"/>
          </p:nvPr>
        </p:nvSpPr>
        <p:spPr>
          <a:xfrm>
            <a:off x="311700" y="285750"/>
            <a:ext cx="85206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¿Qué distingue a las escuelas que rinden mejor?</a:t>
            </a:r>
            <a:endParaRPr b="1" i="0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90" name="Google Shape;290;p35"/>
          <p:cNvGrpSpPr/>
          <p:nvPr/>
        </p:nvGrpSpPr>
        <p:grpSpPr>
          <a:xfrm>
            <a:off x="381000" y="1000125"/>
            <a:ext cx="8382000" cy="4000500"/>
            <a:chOff x="381000" y="1000125"/>
            <a:chExt cx="8382000" cy="4000500"/>
          </a:xfrm>
        </p:grpSpPr>
        <p:sp>
          <p:nvSpPr>
            <p:cNvPr id="291" name="Google Shape;291;p35"/>
            <p:cNvSpPr/>
            <p:nvPr/>
          </p:nvSpPr>
          <p:spPr>
            <a:xfrm>
              <a:off x="381000" y="1000125"/>
              <a:ext cx="4000500" cy="1381200"/>
            </a:xfrm>
            <a:prstGeom prst="roundRect">
              <a:avLst>
                <a:gd fmla="val 3448" name="adj"/>
              </a:avLst>
            </a:prstGeom>
            <a:solidFill>
              <a:srgbClr val="F9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5"/>
            <p:cNvSpPr/>
            <p:nvPr/>
          </p:nvSpPr>
          <p:spPr>
            <a:xfrm>
              <a:off x="381000" y="2524125"/>
              <a:ext cx="4000500" cy="1190700"/>
            </a:xfrm>
            <a:prstGeom prst="roundRect">
              <a:avLst>
                <a:gd fmla="val 4000" name="adj"/>
              </a:avLst>
            </a:prstGeom>
            <a:solidFill>
              <a:srgbClr val="F9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5"/>
            <p:cNvSpPr/>
            <p:nvPr/>
          </p:nvSpPr>
          <p:spPr>
            <a:xfrm>
              <a:off x="4572000" y="1000125"/>
              <a:ext cx="4191000" cy="1381200"/>
            </a:xfrm>
            <a:prstGeom prst="roundRect">
              <a:avLst>
                <a:gd fmla="val 3448" name="adj"/>
              </a:avLst>
            </a:prstGeom>
            <a:solidFill>
              <a:srgbClr val="F9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5"/>
            <p:cNvSpPr/>
            <p:nvPr/>
          </p:nvSpPr>
          <p:spPr>
            <a:xfrm>
              <a:off x="4572000" y="2524125"/>
              <a:ext cx="4191000" cy="1190700"/>
            </a:xfrm>
            <a:prstGeom prst="roundRect">
              <a:avLst>
                <a:gd fmla="val 4000" name="adj"/>
              </a:avLst>
            </a:prstGeom>
            <a:solidFill>
              <a:srgbClr val="F9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5"/>
            <p:cNvSpPr/>
            <p:nvPr/>
          </p:nvSpPr>
          <p:spPr>
            <a:xfrm>
              <a:off x="2286000" y="3857625"/>
              <a:ext cx="4572000" cy="1143000"/>
            </a:xfrm>
            <a:prstGeom prst="roundRect">
              <a:avLst>
                <a:gd fmla="val 4166" name="adj"/>
              </a:avLst>
            </a:prstGeom>
            <a:solidFill>
              <a:srgbClr val="F9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" name="Google Shape;296;p35"/>
          <p:cNvGrpSpPr/>
          <p:nvPr/>
        </p:nvGrpSpPr>
        <p:grpSpPr>
          <a:xfrm>
            <a:off x="523875" y="1095375"/>
            <a:ext cx="8096400" cy="3810000"/>
            <a:chOff x="523875" y="1095375"/>
            <a:chExt cx="8096400" cy="3810000"/>
          </a:xfrm>
        </p:grpSpPr>
        <p:sp>
          <p:nvSpPr>
            <p:cNvPr id="297" name="Google Shape;297;p35"/>
            <p:cNvSpPr txBox="1"/>
            <p:nvPr/>
          </p:nvSpPr>
          <p:spPr>
            <a:xfrm>
              <a:off x="523875" y="1095375"/>
              <a:ext cx="3714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Objetivo</a:t>
              </a:r>
              <a:endParaRPr b="1" sz="130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Identificar qué factores distinguen los niveles de logro SIMCE Matemática entre establecimientos de NSE bajo y medio-bajo.</a:t>
              </a:r>
              <a:endParaRPr b="0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i="1" lang="es-419" sz="950">
                  <a:solidFill>
                    <a:srgbClr val="EF4444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Desafío de desbalance:</a:t>
              </a:r>
              <a:r>
                <a:rPr b="0" i="1" lang="es-419" sz="950">
                  <a:solidFill>
                    <a:srgbClr val="64748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i="1" lang="es-419" sz="950">
                  <a:solidFill>
                    <a:srgbClr val="64748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</a:t>
              </a:r>
              <a:r>
                <a:rPr b="0" i="1" lang="es-419" sz="950">
                  <a:solidFill>
                    <a:srgbClr val="64748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as clases están fuertemente desbalanceadas (≈7</a:t>
              </a:r>
              <a:r>
                <a:rPr i="1" lang="es-419" sz="950">
                  <a:solidFill>
                    <a:srgbClr val="64748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5</a:t>
              </a:r>
              <a:r>
                <a:rPr b="0" i="1" lang="es-419" sz="950">
                  <a:solidFill>
                    <a:srgbClr val="64748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% insuficiente; minoría en elemental/adecuado).</a:t>
              </a:r>
              <a:endParaRPr b="0" i="1" sz="950">
                <a:solidFill>
                  <a:srgbClr val="64748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98" name="Google Shape;298;p35"/>
            <p:cNvSpPr txBox="1"/>
            <p:nvPr/>
          </p:nvSpPr>
          <p:spPr>
            <a:xfrm>
              <a:off x="523875" y="2619375"/>
              <a:ext cx="37149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Variable objetivo</a:t>
              </a:r>
              <a:endParaRPr b="1" sz="130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Lo que se busca predecir:</a:t>
              </a:r>
              <a:r>
                <a:rPr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n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ivel de logro SIMCE Matemática de 2° medio en dos clases: </a:t>
              </a:r>
              <a:r>
                <a:rPr b="1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insuficiente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y </a:t>
              </a:r>
              <a:r>
                <a:rPr b="1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elemental o adecuado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, según los Estándares de Aprendizaje de la Agencia de Calidad de la Educación.</a:t>
              </a:r>
              <a:endParaRPr b="0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99" name="Google Shape;299;p35"/>
            <p:cNvSpPr txBox="1"/>
            <p:nvPr/>
          </p:nvSpPr>
          <p:spPr>
            <a:xfrm>
              <a:off x="4714875" y="1095375"/>
              <a:ext cx="39054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Modelos</a:t>
              </a:r>
              <a:endParaRPr b="1" sz="130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1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Baseline:</a:t>
              </a:r>
              <a:r>
                <a:rPr b="1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clasificador de clase mayoritaria (predecir siempre "insuficiente"). Vara m</a:t>
              </a:r>
              <a:r>
                <a:rPr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ínima</a:t>
              </a:r>
              <a:endParaRPr b="1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1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Interpretable:</a:t>
              </a:r>
              <a:r>
                <a:rPr b="1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regresión logística</a:t>
              </a:r>
              <a:endParaRPr b="1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1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Predictivos:</a:t>
              </a:r>
              <a:r>
                <a:rPr b="1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Random Forest</a:t>
              </a:r>
              <a:r>
                <a:rPr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(captura efectos que la logística no puede)</a:t>
              </a:r>
              <a:endParaRPr b="1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00" name="Google Shape;300;p35"/>
            <p:cNvSpPr txBox="1"/>
            <p:nvPr/>
          </p:nvSpPr>
          <p:spPr>
            <a:xfrm>
              <a:off x="4714875" y="2619375"/>
              <a:ext cx="3905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Variables predictoras</a:t>
              </a:r>
              <a:endParaRPr b="1" sz="130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s-419" sz="1050">
                  <a:solidFill>
                    <a:srgbClr val="556378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Clima y convivencia, estereotipos de género, IVE, Asistencia 2° medio, % docentes en tramo avanzado o superior, </a:t>
              </a:r>
              <a:r>
                <a:rPr lang="es-419" sz="1050">
                  <a:solidFill>
                    <a:srgbClr val="8B5CF6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Part. subvencionado, SLEP (variables categóricas, referencia: Municipal)</a:t>
              </a:r>
              <a:r>
                <a:rPr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01" name="Google Shape;301;p35"/>
            <p:cNvSpPr txBox="1"/>
            <p:nvPr/>
          </p:nvSpPr>
          <p:spPr>
            <a:xfrm>
              <a:off x="2428875" y="3952875"/>
              <a:ext cx="4286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050">
                  <a:solidFill>
                    <a:srgbClr val="10B98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Evaluación</a:t>
              </a:r>
              <a:endParaRPr b="1" sz="1050">
                <a:solidFill>
                  <a:srgbClr val="10B98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1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Métricas:</a:t>
              </a:r>
              <a:r>
                <a:rPr b="1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AUC,</a:t>
              </a:r>
              <a:r>
                <a:rPr b="1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matriz de confusión, precisión, recall, F1 (macro) y balanced accuracy.</a:t>
              </a:r>
              <a:endParaRPr b="1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2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Todos los modelos se comparan directamente contra el baseline establecido.</a:t>
              </a:r>
              <a:endParaRPr b="0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pic>
        <p:nvPicPr>
          <p:cNvPr id="302" name="Google Shape;30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125" y="1047200"/>
            <a:ext cx="272025" cy="2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4250" y="1083087"/>
            <a:ext cx="200250" cy="2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5"/>
          <p:cNvSpPr txBox="1"/>
          <p:nvPr/>
        </p:nvSpPr>
        <p:spPr>
          <a:xfrm>
            <a:off x="614400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1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Tarea de predicción</a:t>
            </a:r>
            <a:endParaRPr b="1" sz="11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285750"/>
            <a:ext cx="85206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i="0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12" name="Google Shape;112;p20"/>
          <p:cNvGrpSpPr/>
          <p:nvPr/>
        </p:nvGrpSpPr>
        <p:grpSpPr>
          <a:xfrm>
            <a:off x="186686" y="1295400"/>
            <a:ext cx="8134226" cy="2895600"/>
            <a:chOff x="285750" y="1295400"/>
            <a:chExt cx="7905750" cy="2895600"/>
          </a:xfrm>
        </p:grpSpPr>
        <p:pic>
          <p:nvPicPr>
            <p:cNvPr id="113" name="Google Shape;113;p20"/>
            <p:cNvPicPr preferRelativeResize="0"/>
            <p:nvPr/>
          </p:nvPicPr>
          <p:blipFill rotWithShape="1">
            <a:blip r:embed="rId3">
              <a:alphaModFix/>
            </a:blip>
            <a:srcRect b="3157" l="0" r="0" t="3157"/>
            <a:stretch/>
          </p:blipFill>
          <p:spPr>
            <a:xfrm>
              <a:off x="952500" y="1504950"/>
              <a:ext cx="72390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20"/>
            <p:cNvSpPr/>
            <p:nvPr/>
          </p:nvSpPr>
          <p:spPr>
            <a:xfrm>
              <a:off x="723900" y="1295400"/>
              <a:ext cx="457200" cy="457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0"/>
            <p:cNvSpPr txBox="1"/>
            <p:nvPr/>
          </p:nvSpPr>
          <p:spPr>
            <a:xfrm>
              <a:off x="838200" y="137160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  <a:endParaRPr b="1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16" name="Google Shape;116;p20"/>
            <p:cNvSpPr txBox="1"/>
            <p:nvPr/>
          </p:nvSpPr>
          <p:spPr>
            <a:xfrm>
              <a:off x="285750" y="1905000"/>
              <a:ext cx="1333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8B5CF6"/>
                  </a:solidFill>
                  <a:latin typeface="Raleway"/>
                  <a:ea typeface="Raleway"/>
                  <a:cs typeface="Raleway"/>
                  <a:sym typeface="Raleway"/>
                </a:rPr>
                <a:t>Base inicial</a:t>
              </a:r>
              <a:endParaRPr b="1" sz="1300">
                <a:solidFill>
                  <a:srgbClr val="8B5CF6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3.000</a:t>
              </a:r>
              <a:endParaRPr b="1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SIMCE Mat. 2°M</a:t>
              </a:r>
              <a:endParaRPr b="1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2024, todos</a:t>
              </a:r>
              <a:endParaRPr b="1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los GSE</a:t>
              </a:r>
              <a:endParaRPr b="1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7" name="Google Shape;117;p20"/>
            <p:cNvSpPr/>
            <p:nvPr/>
          </p:nvSpPr>
          <p:spPr>
            <a:xfrm>
              <a:off x="2171700" y="1295400"/>
              <a:ext cx="457200" cy="457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0"/>
            <p:cNvSpPr txBox="1"/>
            <p:nvPr/>
          </p:nvSpPr>
          <p:spPr>
            <a:xfrm>
              <a:off x="2286000" y="137160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  <a:endParaRPr b="1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19" name="Google Shape;119;p20"/>
            <p:cNvSpPr txBox="1"/>
            <p:nvPr/>
          </p:nvSpPr>
          <p:spPr>
            <a:xfrm>
              <a:off x="1733550" y="1905000"/>
              <a:ext cx="1333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10B981"/>
                  </a:solidFill>
                  <a:latin typeface="Raleway"/>
                  <a:ea typeface="Raleway"/>
                  <a:cs typeface="Raleway"/>
                  <a:sym typeface="Raleway"/>
                </a:rPr>
                <a:t>Variable objetivo</a:t>
              </a:r>
              <a:endParaRPr b="1" sz="1300">
                <a:solidFill>
                  <a:srgbClr val="10B98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2</a:t>
              </a:r>
              <a:r>
                <a:rPr b="1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.966</a:t>
              </a:r>
              <a:endParaRPr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97 puntajes no representativos</a:t>
              </a:r>
              <a:endParaRPr b="1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Se utilizan resultados del </a:t>
              </a:r>
              <a:r>
                <a:rPr b="1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Simce 2023</a:t>
              </a:r>
              <a:r>
                <a:rPr b="0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para completar establecimientos sin respuesta (68 imputados)</a:t>
              </a:r>
              <a:endParaRPr b="1" sz="1000">
                <a:solidFill>
                  <a:srgbClr val="475569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20" name="Google Shape;120;p20"/>
            <p:cNvSpPr/>
            <p:nvPr/>
          </p:nvSpPr>
          <p:spPr>
            <a:xfrm>
              <a:off x="3619500" y="1295400"/>
              <a:ext cx="457200" cy="457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0"/>
            <p:cNvSpPr txBox="1"/>
            <p:nvPr/>
          </p:nvSpPr>
          <p:spPr>
            <a:xfrm>
              <a:off x="3733800" y="137160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3</a:t>
              </a:r>
              <a:endParaRPr b="1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22" name="Google Shape;122;p20"/>
            <p:cNvSpPr txBox="1"/>
            <p:nvPr/>
          </p:nvSpPr>
          <p:spPr>
            <a:xfrm>
              <a:off x="3181350" y="1905000"/>
              <a:ext cx="1333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10B981"/>
                  </a:solidFill>
                  <a:latin typeface="Raleway"/>
                  <a:ea typeface="Raleway"/>
                  <a:cs typeface="Raleway"/>
                  <a:sym typeface="Raleway"/>
                </a:rPr>
                <a:t>Confiabilidad</a:t>
              </a:r>
              <a:endParaRPr b="1" sz="1300">
                <a:solidFill>
                  <a:srgbClr val="10B98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2</a:t>
              </a:r>
              <a:r>
                <a:rPr b="1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.947</a:t>
              </a:r>
              <a:endParaRPr b="1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19 casos con 6 o menos estudiantes evaluados</a:t>
              </a:r>
              <a:endParaRPr sz="9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23" name="Google Shape;123;p20"/>
            <p:cNvSpPr/>
            <p:nvPr/>
          </p:nvSpPr>
          <p:spPr>
            <a:xfrm>
              <a:off x="5067300" y="1295400"/>
              <a:ext cx="457200" cy="457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0"/>
            <p:cNvSpPr txBox="1"/>
            <p:nvPr/>
          </p:nvSpPr>
          <p:spPr>
            <a:xfrm>
              <a:off x="5181600" y="137160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4</a:t>
              </a:r>
              <a:endParaRPr b="1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25" name="Google Shape;125;p20"/>
            <p:cNvSpPr txBox="1"/>
            <p:nvPr/>
          </p:nvSpPr>
          <p:spPr>
            <a:xfrm>
              <a:off x="4629150" y="1905000"/>
              <a:ext cx="1333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8B5CF6"/>
                  </a:solidFill>
                  <a:latin typeface="Raleway"/>
                  <a:ea typeface="Raleway"/>
                  <a:cs typeface="Raleway"/>
                  <a:sym typeface="Raleway"/>
                </a:rPr>
                <a:t>Casos de interés</a:t>
              </a:r>
              <a:endParaRPr b="1" sz="1300">
                <a:solidFill>
                  <a:srgbClr val="8B5CF6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1.533</a:t>
              </a:r>
              <a:endParaRPr b="1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s-419" sz="100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• 678</a:t>
              </a: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GSE bajo</a:t>
              </a:r>
              <a:endParaRPr b="1" sz="1000">
                <a:solidFill>
                  <a:srgbClr val="8B5CF6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s-419" sz="100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• 855</a:t>
              </a: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GSE medio-bajo</a:t>
              </a:r>
              <a:endParaRPr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26" name="Google Shape;126;p20"/>
            <p:cNvSpPr/>
            <p:nvPr/>
          </p:nvSpPr>
          <p:spPr>
            <a:xfrm>
              <a:off x="6515100" y="1295400"/>
              <a:ext cx="457200" cy="457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 txBox="1"/>
            <p:nvPr/>
          </p:nvSpPr>
          <p:spPr>
            <a:xfrm>
              <a:off x="6629400" y="1371600"/>
              <a:ext cx="22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5</a:t>
              </a:r>
              <a:endParaRPr b="1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28" name="Google Shape;128;p20"/>
            <p:cNvSpPr txBox="1"/>
            <p:nvPr/>
          </p:nvSpPr>
          <p:spPr>
            <a:xfrm>
              <a:off x="6076950" y="1905000"/>
              <a:ext cx="1333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8B5CF6"/>
                  </a:solidFill>
                  <a:latin typeface="Raleway"/>
                  <a:ea typeface="Raleway"/>
                  <a:cs typeface="Raleway"/>
                  <a:sym typeface="Raleway"/>
                </a:rPr>
                <a:t>Cruce de fuentes</a:t>
              </a:r>
              <a:endParaRPr b="1" sz="1300">
                <a:solidFill>
                  <a:srgbClr val="8B5CF6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1.526</a:t>
              </a:r>
              <a:endParaRPr b="1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IDPS, género, asistencia, IVEy docentes, 7 sin IDPS</a:t>
              </a:r>
              <a:endParaRPr b="1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29" name="Google Shape;129;p20"/>
          <p:cNvSpPr/>
          <p:nvPr/>
        </p:nvSpPr>
        <p:spPr>
          <a:xfrm>
            <a:off x="7909560" y="12954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8023860" y="137160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1" sz="12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7692390" y="1905000"/>
            <a:ext cx="13335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10B981"/>
                </a:solidFill>
                <a:latin typeface="Raleway"/>
                <a:ea typeface="Raleway"/>
                <a:cs typeface="Raleway"/>
                <a:sym typeface="Raleway"/>
              </a:rPr>
              <a:t>Muestra final</a:t>
            </a:r>
            <a:endParaRPr b="1" sz="1300">
              <a:solidFill>
                <a:srgbClr val="10B98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s-419" sz="1050">
                <a:solidFill>
                  <a:srgbClr val="0F172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1.429</a:t>
            </a:r>
            <a:endParaRPr b="1" sz="1050">
              <a:solidFill>
                <a:srgbClr val="8B5CF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97 con 10% o más sin dato en género (uno de ellos, además, sin asistencia)</a:t>
            </a:r>
            <a:endParaRPr b="1" sz="1000">
              <a:solidFill>
                <a:srgbClr val="47556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617225" y="4373875"/>
            <a:ext cx="282000" cy="274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617225" y="4739625"/>
            <a:ext cx="282000" cy="274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960100" y="437387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Definición de la base</a:t>
            </a:r>
            <a:endParaRPr/>
          </a:p>
        </p:txBody>
      </p:sp>
      <p:sp>
        <p:nvSpPr>
          <p:cNvPr id="135" name="Google Shape;135;p20"/>
          <p:cNvSpPr txBox="1"/>
          <p:nvPr/>
        </p:nvSpPr>
        <p:spPr>
          <a:xfrm>
            <a:off x="960100" y="470362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Tratamiento de valores perdidos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285750"/>
            <a:ext cx="85206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i="0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238997" y="808250"/>
            <a:ext cx="362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1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Características de los establecimientos</a:t>
            </a:r>
            <a:endParaRPr b="1" sz="11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2" name="Google Shape;142;p21"/>
          <p:cNvPicPr preferRelativeResize="0"/>
          <p:nvPr/>
        </p:nvPicPr>
        <p:blipFill rotWithShape="1">
          <a:blip r:embed="rId3">
            <a:alphaModFix/>
          </a:blip>
          <a:srcRect b="150" l="0" r="0" t="150"/>
          <a:stretch/>
        </p:blipFill>
        <p:spPr>
          <a:xfrm>
            <a:off x="285750" y="1238250"/>
            <a:ext cx="4572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/>
          <p:nvPr/>
        </p:nvSpPr>
        <p:spPr>
          <a:xfrm>
            <a:off x="5048250" y="1238250"/>
            <a:ext cx="3810000" cy="3429000"/>
          </a:xfrm>
          <a:prstGeom prst="roundRect">
            <a:avLst>
              <a:gd fmla="val 2222" name="adj"/>
            </a:avLst>
          </a:prstGeom>
          <a:solidFill>
            <a:srgbClr val="F9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 txBox="1"/>
          <p:nvPr/>
        </p:nvSpPr>
        <p:spPr>
          <a:xfrm>
            <a:off x="5048250" y="1238250"/>
            <a:ext cx="38100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4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Principales características</a:t>
            </a:r>
            <a:endParaRPr b="1" sz="14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F172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Nivel socioeconómico:</a:t>
            </a:r>
            <a:r>
              <a:rPr lang="es-419" sz="11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44% de los establecimientos son de GSE bajo y </a:t>
            </a:r>
            <a:r>
              <a:rPr b="1" lang="es-419" sz="115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56% de GSE medio-bajo</a:t>
            </a:r>
            <a:r>
              <a:rPr lang="es-419" sz="11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sz="1150">
              <a:solidFill>
                <a:srgbClr val="33415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F172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Dependencia administrativa:</a:t>
            </a:r>
            <a:r>
              <a:rPr lang="es-419" sz="11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b="1" lang="es-419" sz="115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53% particulares subvencionados</a:t>
            </a:r>
            <a:r>
              <a:rPr lang="es-419" sz="11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38% municipales y 8% SLEP.</a:t>
            </a:r>
            <a:endParaRPr sz="1150">
              <a:solidFill>
                <a:srgbClr val="33415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F172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Distribución geográfica:</a:t>
            </a:r>
            <a:r>
              <a:rPr lang="es-419" sz="11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b="1" lang="es-419" sz="115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91% urbano</a:t>
            </a:r>
            <a:r>
              <a:rPr lang="es-419" sz="11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y 9% rural.</a:t>
            </a:r>
            <a:endParaRPr sz="1150">
              <a:solidFill>
                <a:srgbClr val="33415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0F172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Concentración regional:</a:t>
            </a:r>
            <a:r>
              <a:rPr lang="es-419" sz="11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mayor parte en la </a:t>
            </a:r>
            <a:r>
              <a:rPr b="1" lang="es-419" sz="115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RM (31%)</a:t>
            </a:r>
            <a:r>
              <a:rPr lang="es-419" sz="11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seguido por Valparaíso (11%) y Biobío (9%).</a:t>
            </a:r>
            <a:endParaRPr sz="1150">
              <a:solidFill>
                <a:srgbClr val="33415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" name="Google Shape;164;p24"/>
          <p:cNvGraphicFramePr/>
          <p:nvPr/>
        </p:nvGraphicFramePr>
        <p:xfrm>
          <a:off x="995363" y="151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{814AF6BE-81F6-481A-B08C-F51207E83DDD}</a:tableStyleId>
              </a:tblPr>
              <a:tblGrid>
                <a:gridCol w="3326050"/>
                <a:gridCol w="577100"/>
                <a:gridCol w="425250"/>
                <a:gridCol w="516375"/>
                <a:gridCol w="516375"/>
                <a:gridCol w="759375"/>
                <a:gridCol w="516375"/>
                <a:gridCol w="516375"/>
              </a:tblGrid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5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Variable</a:t>
                      </a:r>
                      <a:endParaRPr b="1" sz="125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5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Media</a:t>
                      </a:r>
                      <a:endParaRPr b="1" sz="125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5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D.E.</a:t>
                      </a:r>
                      <a:endParaRPr b="1" sz="125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5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Mín</a:t>
                      </a:r>
                      <a:endParaRPr b="1" sz="125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5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P25</a:t>
                      </a:r>
                      <a:endParaRPr b="1" sz="125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5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Mediana</a:t>
                      </a:r>
                      <a:endParaRPr b="1" sz="125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5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P75</a:t>
                      </a:r>
                      <a:endParaRPr b="1" sz="125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5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Máx</a:t>
                      </a:r>
                      <a:endParaRPr b="1" sz="125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Puntaje Matemática 2°M</a:t>
                      </a:r>
                      <a:endParaRPr sz="125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238.0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24.9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189.0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220.0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233.0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251.0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361.0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Autoestima y motivación (0-100)</a:t>
                      </a:r>
                      <a:endParaRPr sz="125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74.3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63.0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72.0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74.0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77.0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91.0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Clima y convivencia (0-100)</a:t>
                      </a:r>
                      <a:endParaRPr sz="125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75.2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4.4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62.0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72.0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75.0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78.0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92.0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Participación y formación ciudadana (0-100)</a:t>
                      </a:r>
                      <a:endParaRPr sz="125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77.2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4.9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60.0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74.0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77.0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80.0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95.0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Hábitos de vida saludable (0-100)</a:t>
                      </a:r>
                      <a:endParaRPr sz="125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71.7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4.7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55.0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69.0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72.0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75.0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87.0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% de acuerdo con estereotipos de g</a:t>
                      </a: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énero</a:t>
                      </a:r>
                      <a:endParaRPr sz="125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39.9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7.9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10.7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35.3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40.1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44.6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68.3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% docentes tramo avanzado o superior</a:t>
                      </a:r>
                      <a:endParaRPr sz="125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32.3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17.6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19.1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33.3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45.5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74.2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IVE media (0-1)</a:t>
                      </a:r>
                      <a:endParaRPr sz="125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0.89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0.06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0.59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0.85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0.90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0.93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1.00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Tasa de asistencia 2°M (0-1)</a:t>
                      </a:r>
                      <a:endParaRPr sz="125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0.86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0.06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0.52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0.83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0.87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0.90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0.99</a:t>
                      </a:r>
                      <a:endParaRPr sz="12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24"/>
          <p:cNvSpPr txBox="1"/>
          <p:nvPr>
            <p:ph type="title"/>
          </p:nvPr>
        </p:nvSpPr>
        <p:spPr>
          <a:xfrm>
            <a:off x="311700" y="285750"/>
            <a:ext cx="85206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i="0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239001" y="808250"/>
            <a:ext cx="475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1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Características de los establecimientos: estadísticos descriptivos</a:t>
            </a:r>
            <a:endParaRPr b="1" sz="11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311700" y="285750"/>
            <a:ext cx="85206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i="0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125" y="2709639"/>
            <a:ext cx="6201750" cy="211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587400" y="1114445"/>
            <a:ext cx="82449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Char char="-"/>
            </a:pPr>
            <a:r>
              <a:rPr b="1" lang="es-419"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 puntaje promedio de matemáticas para 2do medio es de 238,0</a:t>
            </a:r>
            <a:r>
              <a:rPr lang="es-419"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con una mediana de 233 y rango entre 189 y 361.</a:t>
            </a:r>
            <a:endParaRPr sz="16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Char char="-"/>
            </a:pPr>
            <a:r>
              <a:rPr b="1" lang="es-419"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 distribución es asimétrica a la derecha (skew 1,18; curtosis 2,08)</a:t>
            </a:r>
            <a:r>
              <a:rPr lang="es-419" sz="16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la mayoría de las escuelas está bajo los 252 puntos, con presencia de outliers para los valores más altos en la prueba Simce.</a:t>
            </a:r>
            <a:endParaRPr sz="16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238997" y="808250"/>
            <a:ext cx="362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1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Rendimiento</a:t>
            </a:r>
            <a:r>
              <a:rPr b="1" lang="es-419" sz="11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 de los establecimientos</a:t>
            </a:r>
            <a:endParaRPr b="1" sz="11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/>
        </p:nvSpPr>
        <p:spPr>
          <a:xfrm>
            <a:off x="381000" y="333375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Exploración respecto al objetivo: definición de la variable objetivo (target binario)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22" name="Google Shape;222;p30"/>
          <p:cNvSpPr/>
          <p:nvPr/>
        </p:nvSpPr>
        <p:spPr>
          <a:xfrm>
            <a:off x="1143000" y="1333500"/>
            <a:ext cx="2000100" cy="647700"/>
          </a:xfrm>
          <a:prstGeom prst="roundRect">
            <a:avLst>
              <a:gd fmla="val 1470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142875" spcFirstLastPara="1" rIns="14287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D97706"/>
                </a:solidFill>
                <a:latin typeface="Raleway"/>
                <a:ea typeface="Raleway"/>
                <a:cs typeface="Raleway"/>
                <a:sym typeface="Raleway"/>
              </a:rPr>
              <a:t>Insuficiente</a:t>
            </a:r>
            <a:endParaRPr b="1" sz="1300">
              <a:solidFill>
                <a:srgbClr val="D9770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64748B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1.075 - 75,2%</a:t>
            </a:r>
            <a:endParaRPr b="0" sz="1000">
              <a:solidFill>
                <a:srgbClr val="64748B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1143000" y="2143125"/>
            <a:ext cx="2000100" cy="647700"/>
          </a:xfrm>
          <a:prstGeom prst="roundRect">
            <a:avLst>
              <a:gd fmla="val 1470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142875" spcFirstLastPara="1" rIns="14287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Elemental</a:t>
            </a:r>
            <a:endParaRPr b="1" sz="13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64748B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339 - 23,7%</a:t>
            </a:r>
            <a:endParaRPr b="0" sz="1000">
              <a:solidFill>
                <a:srgbClr val="64748B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224" name="Google Shape;224;p30"/>
          <p:cNvSpPr/>
          <p:nvPr/>
        </p:nvSpPr>
        <p:spPr>
          <a:xfrm>
            <a:off x="1143000" y="2952750"/>
            <a:ext cx="2000100" cy="647700"/>
          </a:xfrm>
          <a:prstGeom prst="roundRect">
            <a:avLst>
              <a:gd fmla="val 1470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142875" spcFirstLastPara="1" rIns="14287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Adecuado</a:t>
            </a:r>
            <a:endParaRPr b="1" sz="13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64748B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15 - 1,0%</a:t>
            </a:r>
            <a:endParaRPr b="0" sz="1000">
              <a:solidFill>
                <a:srgbClr val="64748B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225" name="Google Shape;225;p30"/>
          <p:cNvSpPr/>
          <p:nvPr/>
        </p:nvSpPr>
        <p:spPr>
          <a:xfrm>
            <a:off x="6000750" y="1333500"/>
            <a:ext cx="2000100" cy="647700"/>
          </a:xfrm>
          <a:prstGeom prst="roundRect">
            <a:avLst>
              <a:gd fmla="val 14705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47625" lIns="142875" spcFirstLastPara="1" rIns="14287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Insuficiente</a:t>
            </a:r>
            <a:endParaRPr b="1" sz="13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FEF3C7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1.075 - 75,2%</a:t>
            </a:r>
            <a:endParaRPr b="0" sz="1000">
              <a:solidFill>
                <a:srgbClr val="FEF3C7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6000750" y="2543175"/>
            <a:ext cx="2000100" cy="647700"/>
          </a:xfrm>
          <a:prstGeom prst="roundRect">
            <a:avLst>
              <a:gd fmla="val 14705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7625" lIns="142875" spcFirstLastPara="1" rIns="14287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Elemental o adecuado</a:t>
            </a:r>
            <a:endParaRPr b="1" sz="1203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s-419" sz="925">
                <a:solidFill>
                  <a:srgbClr val="DBEAFE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354 - 24,8%</a:t>
            </a:r>
            <a:endParaRPr b="0" sz="925">
              <a:solidFill>
                <a:srgbClr val="DBEAFE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cxnSp>
        <p:nvCxnSpPr>
          <p:cNvPr id="227" name="Google Shape;227;p30"/>
          <p:cNvCxnSpPr>
            <a:stCxn id="223" idx="3"/>
            <a:endCxn id="226" idx="1"/>
          </p:cNvCxnSpPr>
          <p:nvPr/>
        </p:nvCxnSpPr>
        <p:spPr>
          <a:xfrm>
            <a:off x="3143100" y="2466975"/>
            <a:ext cx="2857800" cy="400200"/>
          </a:xfrm>
          <a:prstGeom prst="straightConnector1">
            <a:avLst/>
          </a:prstGeom>
          <a:noFill/>
          <a:ln cap="flat" cmpd="sng" w="9525">
            <a:solidFill>
              <a:srgbClr val="2563E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0"/>
          <p:cNvCxnSpPr>
            <a:stCxn id="224" idx="3"/>
            <a:endCxn id="226" idx="1"/>
          </p:cNvCxnSpPr>
          <p:nvPr/>
        </p:nvCxnSpPr>
        <p:spPr>
          <a:xfrm flipH="1" rot="10800000">
            <a:off x="3143100" y="2867100"/>
            <a:ext cx="2857800" cy="409500"/>
          </a:xfrm>
          <a:prstGeom prst="straightConnector1">
            <a:avLst/>
          </a:prstGeom>
          <a:noFill/>
          <a:ln cap="flat" cmpd="sng" w="9525">
            <a:solidFill>
              <a:srgbClr val="2563E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30"/>
          <p:cNvCxnSpPr>
            <a:stCxn id="222" idx="3"/>
            <a:endCxn id="225" idx="1"/>
          </p:cNvCxnSpPr>
          <p:nvPr/>
        </p:nvCxnSpPr>
        <p:spPr>
          <a:xfrm>
            <a:off x="3143100" y="1657350"/>
            <a:ext cx="2857800" cy="0"/>
          </a:xfrm>
          <a:prstGeom prst="straightConnector1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30"/>
          <p:cNvSpPr txBox="1"/>
          <p:nvPr/>
        </p:nvSpPr>
        <p:spPr>
          <a:xfrm>
            <a:off x="571500" y="4000500"/>
            <a:ext cx="3905400" cy="51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142875" spcFirstLastPara="1" rIns="142875" wrap="square" tIns="95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050">
                <a:solidFill>
                  <a:srgbClr val="1E293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GSE medio y bajo representa el </a:t>
            </a:r>
            <a:r>
              <a:rPr b="1" lang="es-419" sz="105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46% de la matrícula</a:t>
            </a:r>
            <a:r>
              <a:rPr b="0" lang="es-419" sz="1050">
                <a:solidFill>
                  <a:srgbClr val="1E293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a nivel nacional (GSE bajo 17,1% + medio-bajo 29,3%)</a:t>
            </a:r>
            <a:endParaRPr b="0" sz="1050">
              <a:solidFill>
                <a:srgbClr val="1E293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31" name="Google Shape;231;p30"/>
          <p:cNvSpPr txBox="1"/>
          <p:nvPr/>
        </p:nvSpPr>
        <p:spPr>
          <a:xfrm>
            <a:off x="4667250" y="4000500"/>
            <a:ext cx="3905400" cy="51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142875" spcFirstLastPara="1" rIns="142875" wrap="square" tIns="95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05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1 de cada 4</a:t>
            </a:r>
            <a:r>
              <a:rPr b="0" lang="es-419" sz="1050">
                <a:solidFill>
                  <a:srgbClr val="1E293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supera el nivel insuficiente (354 de 1.429 (24,8%))</a:t>
            </a:r>
            <a:endParaRPr b="0" sz="1050">
              <a:solidFill>
                <a:srgbClr val="1E293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311700" y="285750"/>
            <a:ext cx="85206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i="0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587400" y="1040850"/>
            <a:ext cx="82449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 exploraron distintas fuentes de datos que, de acuerdo con la literatura, podrían estar asociadas con el logro académico de los establecimientos:</a:t>
            </a:r>
            <a:endParaRPr sz="17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59" name="Google Shape;159;p23"/>
          <p:cNvGraphicFramePr/>
          <p:nvPr/>
        </p:nvGraphicFramePr>
        <p:xfrm>
          <a:off x="856563" y="18564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{B8D242BC-4F9A-43C5-B99E-CC6F9F936A56}</a:tableStyleId>
              </a:tblPr>
              <a:tblGrid>
                <a:gridCol w="2791200"/>
                <a:gridCol w="4915375"/>
              </a:tblGrid>
              <a:tr h="34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Fuente</a:t>
                      </a:r>
                      <a:endParaRPr b="1" sz="12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Indicadores evaluados</a:t>
                      </a:r>
                      <a:endParaRPr b="1" sz="12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</a:tr>
              <a:tr h="51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Indicadores de desempeño social y personal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Clima y convivencia escolar, motivación y autoestima académica, participaci</a:t>
                      </a: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ón y formación ciudadana, hábitos de vida saludable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Cuestionario estudiantes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Estereotipos de género (roles del trabajo, desempeño académico, rasgos psicológicos)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Asistencia escolar 2024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Tasa de asistencia anual de los estudiantes de 2do medio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Nivel de experiencia de los profesores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Porcentaje de profesores en tramo avanzado y experto de su carrera docente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Índice de vulnerabilidad escolar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Porcentaje de estudiantes en condición de vulnerabilidad prioritaria. Construido por JUNAEB para asignación del Programa de Alimentación Escolar (PAE)</a:t>
                      </a:r>
                      <a:endParaRPr sz="12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311700" y="285750"/>
            <a:ext cx="85206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i="0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38997" y="808250"/>
            <a:ext cx="362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1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Análisis de outliers</a:t>
            </a:r>
            <a:endParaRPr b="1" sz="11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73" name="Google Shape;1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550" y="1108500"/>
            <a:ext cx="6865780" cy="40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Exploración </a:t>
            </a: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respecto al objetivo: poder discriminante univariado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aphicFrame>
        <p:nvGraphicFramePr>
          <p:cNvPr id="237" name="Google Shape;237;p31"/>
          <p:cNvGraphicFramePr/>
          <p:nvPr/>
        </p:nvGraphicFramePr>
        <p:xfrm>
          <a:off x="266725" y="1496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{814AF6BE-81F6-481A-B08C-F51207E83DDD}</a:tableStyleId>
              </a:tblPr>
              <a:tblGrid>
                <a:gridCol w="2458325"/>
                <a:gridCol w="898500"/>
                <a:gridCol w="386850"/>
                <a:gridCol w="711275"/>
                <a:gridCol w="599000"/>
              </a:tblGrid>
              <a:tr h="32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50">
                          <a:solidFill>
                            <a:srgbClr val="F8FAF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Variable</a:t>
                      </a:r>
                      <a:endParaRPr b="1" sz="1050">
                        <a:solidFill>
                          <a:srgbClr val="F8FAF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50">
                          <a:solidFill>
                            <a:srgbClr val="F8FAF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</a:t>
                      </a:r>
                      <a:r>
                        <a:rPr b="1" lang="es-419" sz="1050">
                          <a:solidFill>
                            <a:srgbClr val="F8FAF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con promedio matem</a:t>
                      </a:r>
                      <a:r>
                        <a:rPr b="1" lang="es-419" sz="1050">
                          <a:solidFill>
                            <a:srgbClr val="F8FAF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áticas</a:t>
                      </a:r>
                      <a:endParaRPr b="1" sz="1050">
                        <a:solidFill>
                          <a:srgbClr val="F8FAF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50">
                          <a:solidFill>
                            <a:srgbClr val="F8FAF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AUC</a:t>
                      </a:r>
                      <a:endParaRPr b="1" sz="1050">
                        <a:solidFill>
                          <a:srgbClr val="F8FAF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50">
                          <a:solidFill>
                            <a:srgbClr val="F8FAF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Cohen's d</a:t>
                      </a:r>
                      <a:endParaRPr b="1" sz="1050">
                        <a:solidFill>
                          <a:srgbClr val="F8FAF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50">
                          <a:solidFill>
                            <a:srgbClr val="F8FAF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Sentido</a:t>
                      </a:r>
                      <a:endParaRPr b="1" sz="1050">
                        <a:solidFill>
                          <a:srgbClr val="F8FAF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Clima y convivencia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364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704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0.76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directo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Tasa de asistencia 2°M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329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697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0.68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directo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Autoestima y motivación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322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684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0.70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directo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Participación y formación ciudadana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306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681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0.67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directo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Hábitos de vida saludable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220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635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0.48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directo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Estereotipos de género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-0.240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629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-0.47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inverso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IVE media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-0.141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596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-0.25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inverso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% docentes tramo avanzado o superior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-0.033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539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-0.12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5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sin señal</a:t>
                      </a:r>
                      <a:endParaRPr sz="105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8" name="Google Shape;238;p31"/>
          <p:cNvSpPr txBox="1"/>
          <p:nvPr/>
        </p:nvSpPr>
        <p:spPr>
          <a:xfrm>
            <a:off x="5554950" y="1824075"/>
            <a:ext cx="3398700" cy="30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 clima escolar es el mejor predictor individual </a:t>
            </a:r>
            <a:endParaRPr b="1"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AUC 0,704 y la mayor diferencia entre grupos (d = 0,76): los establecimientos que superan el nivel insuficiente promedian 77,6 puntos en convivencia frente a 74,4 de los que no lo superan.</a:t>
            </a:r>
            <a:endParaRPr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 asistencia es la variable de proceso más fuerte</a:t>
            </a:r>
            <a:endParaRPr b="1"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AUC 0,697. La brecha es de casi 4 puntos porcentuales de asistencia anual: 88,7% contra 85,1%.</a:t>
            </a:r>
            <a:endParaRPr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Los estereotipos de género operan en sentido inverso</a:t>
            </a:r>
            <a:endParaRPr b="1"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 mayor presencia de creencias estereotipadas entre los estudiantes, menor probabilidad de superar el nivel (r = −0,240).</a:t>
            </a:r>
            <a:endParaRPr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 tramo de carrera docente no discrimina</a:t>
            </a:r>
            <a:endParaRPr b="1"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AUC 0,539, prácticamente azar.</a:t>
            </a:r>
            <a:endParaRPr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5554950" y="1089575"/>
            <a:ext cx="3284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Ninguna variable predice por sí sola: </a:t>
            </a:r>
            <a:r>
              <a:rPr lang="es-419" sz="11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Los AUC se mueven entre 0,54 y 0,70: capacidad discriminante moderada</a:t>
            </a:r>
            <a:endParaRPr sz="11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Exploración </a:t>
            </a: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respecto al objetivo: variables categ</a:t>
            </a: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óricas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aphicFrame>
        <p:nvGraphicFramePr>
          <p:cNvPr id="245" name="Google Shape;245;p32"/>
          <p:cNvGraphicFramePr/>
          <p:nvPr/>
        </p:nvGraphicFramePr>
        <p:xfrm>
          <a:off x="304800" y="166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{814AF6BE-81F6-481A-B08C-F51207E83DDD}</a:tableStyleId>
              </a:tblPr>
              <a:tblGrid>
                <a:gridCol w="878225"/>
                <a:gridCol w="1177975"/>
                <a:gridCol w="422300"/>
                <a:gridCol w="763925"/>
                <a:gridCol w="1048250"/>
                <a:gridCol w="776650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Dimensión</a:t>
                      </a:r>
                      <a:endParaRPr b="1" sz="10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Categoría</a:t>
                      </a:r>
                      <a:endParaRPr b="1" sz="10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n</a:t>
                      </a:r>
                      <a:endParaRPr b="1" sz="10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% sobre el corte</a:t>
                      </a:r>
                      <a:endParaRPr b="1" sz="10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Puntaje medio</a:t>
                      </a:r>
                      <a:endParaRPr b="1" sz="10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Cramer's V</a:t>
                      </a:r>
                      <a:endParaRPr b="1" sz="10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</a:tr>
              <a:tr h="314325"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Dependencia</a:t>
                      </a:r>
                      <a:endParaRPr b="1"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Part. subvencionado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763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34.5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244.2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241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Municipal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546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14.3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230.9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SLEP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120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10.8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230.9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GSE</a:t>
                      </a:r>
                      <a:endParaRPr b="1"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Medio bajo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804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33.0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244.4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</a:t>
                      </a: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213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Bajo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625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14.2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229.8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Zona</a:t>
                      </a:r>
                      <a:endParaRPr b="1"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Urbano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1307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25.0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238.4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0.0</a:t>
                      </a: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16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Rural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122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22.1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233.6</a:t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6" name="Google Shape;246;p32"/>
          <p:cNvSpPr txBox="1"/>
          <p:nvPr/>
        </p:nvSpPr>
        <p:spPr>
          <a:xfrm>
            <a:off x="5570175" y="1229700"/>
            <a:ext cx="3398700" cy="3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 dependencia administrativa es la variable categórica más asociada al logro</a:t>
            </a:r>
            <a:endParaRPr b="1"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Un tercio de los particulares subvencionados supera el nivel insuficiente (34,5%), frente a uno de cada siete municipales (14,3%) y uno de cada nueve SLEP (10,8%)</a:t>
            </a: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 GSE sigue discriminando dentro del grupo objetivo</a:t>
            </a:r>
            <a:endParaRPr b="1"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Aunque la base ya está restringida a los dos grupos más bajos, la brecha entre medio-bajo (33,0%) y bajo (14,2%) es de más del doble</a:t>
            </a: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 diferencia entre urbano y rural no aporta información</a:t>
            </a:r>
            <a:endParaRPr b="1"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Rural 22,1% y urbano 25,0%, una diferencia dentro del margen esperable dado que solo hay 122 establecimientos rurales</a:t>
            </a:r>
            <a:r>
              <a:rPr lang="es-419"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sz="10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3"/>
          <p:cNvPicPr preferRelativeResize="0"/>
          <p:nvPr/>
        </p:nvPicPr>
        <p:blipFill rotWithShape="1">
          <a:blip r:embed="rId3">
            <a:alphaModFix/>
          </a:blip>
          <a:srcRect b="0" l="0" r="50000" t="0"/>
          <a:stretch/>
        </p:blipFill>
        <p:spPr>
          <a:xfrm>
            <a:off x="5326375" y="737699"/>
            <a:ext cx="3604248" cy="3183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3"/>
          <p:cNvSpPr/>
          <p:nvPr/>
        </p:nvSpPr>
        <p:spPr>
          <a:xfrm>
            <a:off x="6469375" y="1224025"/>
            <a:ext cx="861000" cy="868800"/>
          </a:xfrm>
          <a:prstGeom prst="roundRect">
            <a:avLst>
              <a:gd fmla="val 16667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253" name="Google Shape;25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8325" y="3561750"/>
            <a:ext cx="3467101" cy="1536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4" name="Google Shape;254;p33"/>
          <p:cNvGrpSpPr/>
          <p:nvPr/>
        </p:nvGrpSpPr>
        <p:grpSpPr>
          <a:xfrm>
            <a:off x="381000" y="1171575"/>
            <a:ext cx="4610250" cy="1905000"/>
            <a:chOff x="381000" y="1171575"/>
            <a:chExt cx="4610250" cy="1905000"/>
          </a:xfrm>
        </p:grpSpPr>
        <p:sp>
          <p:nvSpPr>
            <p:cNvPr id="255" name="Google Shape;255;p33"/>
            <p:cNvSpPr/>
            <p:nvPr/>
          </p:nvSpPr>
          <p:spPr>
            <a:xfrm>
              <a:off x="381000" y="1219200"/>
              <a:ext cx="38100" cy="1905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3"/>
            <p:cNvSpPr txBox="1"/>
            <p:nvPr/>
          </p:nvSpPr>
          <p:spPr>
            <a:xfrm>
              <a:off x="514350" y="1171575"/>
              <a:ext cx="4476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Alta correlación entre IDPS</a:t>
              </a:r>
              <a:endParaRPr b="1" sz="1300">
                <a:solidFill>
                  <a:srgbClr val="0F172A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Las correlaciones entre los cuatro indicadores van de 0,69 a 0,89. Aunque son constructos distintos por diseño, en la práctica las escuelas que puntúan alto en uno puntúan alto en todos.</a:t>
              </a:r>
              <a:endParaRPr b="0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En clustering, incluir los cuatro aportaría cuatro veces la misma dimensión al cálculo de distancias. En clasificación, los coeficientes se reparten de forma inestable entre variables casi idénticas y dejan de ser interpretables.</a:t>
              </a:r>
              <a:endParaRPr b="0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257" name="Google Shape;257;p33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Selección de variables: un indicador de IDPS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258" name="Google Shape;258;p33"/>
          <p:cNvGrpSpPr/>
          <p:nvPr/>
        </p:nvGrpSpPr>
        <p:grpSpPr>
          <a:xfrm>
            <a:off x="381000" y="3219450"/>
            <a:ext cx="4610250" cy="1619100"/>
            <a:chOff x="381000" y="3219450"/>
            <a:chExt cx="4610250" cy="1619100"/>
          </a:xfrm>
        </p:grpSpPr>
        <p:sp>
          <p:nvSpPr>
            <p:cNvPr id="259" name="Google Shape;259;p33"/>
            <p:cNvSpPr/>
            <p:nvPr/>
          </p:nvSpPr>
          <p:spPr>
            <a:xfrm>
              <a:off x="381000" y="3267075"/>
              <a:ext cx="38100" cy="1905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3"/>
            <p:cNvSpPr txBox="1"/>
            <p:nvPr/>
          </p:nvSpPr>
          <p:spPr>
            <a:xfrm>
              <a:off x="514350" y="3219450"/>
              <a:ext cx="4476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30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Por qué clima y convivencia escolar</a:t>
              </a:r>
              <a:endParaRPr b="1" sz="1300">
                <a:solidFill>
                  <a:srgbClr val="0F172A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Es el factor de proceso que la literatura sobre escuelas efectivas asocia al logro académico. Es la dimensión más accionable desde la gestión escolar, y encabeza el poder discriminante entre los cuatro con un </a:t>
              </a:r>
              <a:r>
                <a:rPr b="1" lang="es-419" sz="105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AUC de 0,704</a:t>
              </a:r>
              <a:r>
                <a:rPr b="0" lang="es-419" sz="10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, manteniendo la primera posición en el 95% de las réplicas (1.000).</a:t>
              </a:r>
              <a:endParaRPr b="0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83464"/>
            <a:ext cx="8385048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  <a:latin typeface="Raleway"/>
              </a:rPr>
              <a:t>Clustering</a:t>
            </a:r>
          </a:p>
          <a:p>
            <a:pPr algn="l"/>
            <a:r>
              <a:rPr sz="1200" b="0" i="0">
                <a:solidFill>
                  <a:srgbClr val="2563EB"/>
                </a:solidFill>
                <a:latin typeface="Raleway SemiBold"/>
              </a:rPr>
              <a:t>Qué agrupamos y, sobre todo, qué dejamos fuera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44768" y="18288"/>
            <a:ext cx="299923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  <a:latin typeface="Raleway"/>
              </a:rPr>
              <a:t>Tarea de clustering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15568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82296"/>
          <a:lstStyle/>
          <a:p>
            <a:pPr algn="ctr"/>
            <a:r>
              <a:rPr sz="1050" b="1" i="0">
                <a:solidFill>
                  <a:srgbClr val="1BAF7A"/>
                </a:solidFill>
                <a:latin typeface="Raleway SemiBold"/>
              </a:rPr>
              <a:t>AGRUPAN  ·  3 variables de proceso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6202C"/>
                </a:solidFill>
                <a:latin typeface="Source Sans Pro"/>
              </a:rPr>
              <a:t>· Clima y convivencia escolar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6202C"/>
                </a:solidFill>
                <a:latin typeface="Source Sans Pro"/>
              </a:rPr>
              <a:t>· Tasa de asistencia 2° medio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6202C"/>
                </a:solidFill>
                <a:latin typeface="Source Sans Pro"/>
              </a:rPr>
              <a:t>· Estereotipos de género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36976" y="1115568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82296"/>
          <a:lstStyle/>
          <a:p>
            <a:pPr algn="ctr"/>
            <a:r>
              <a:rPr sz="1050" b="1" i="0">
                <a:solidFill>
                  <a:srgbClr val="64748B"/>
                </a:solidFill>
                <a:latin typeface="Raleway SemiBold"/>
              </a:rPr>
              <a:t>RESERVADO  ·  contexto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6202C"/>
                </a:solidFill>
                <a:latin typeface="Source Sans Pro"/>
              </a:rPr>
              <a:t>· Índice de vulnerabilidad (IVE)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6202C"/>
                </a:solidFill>
                <a:latin typeface="Source Sans Pro"/>
              </a:rPr>
              <a:t>· % docentes tramo avanzado+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6202C"/>
                </a:solidFill>
                <a:latin typeface="Source Sans Pro"/>
              </a:rPr>
              <a:t>· Dependencia y zona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9904" y="1115568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82296"/>
          <a:lstStyle/>
          <a:p>
            <a:pPr algn="ctr"/>
            <a:r>
              <a:rPr sz="1050" b="1" i="0">
                <a:solidFill>
                  <a:srgbClr val="64748B"/>
                </a:solidFill>
                <a:latin typeface="Raleway SemiBold"/>
              </a:rPr>
              <a:t>RESERVADO  ·  resultado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6202C"/>
                </a:solidFill>
                <a:latin typeface="Source Sans Pro"/>
              </a:rPr>
              <a:t>· Puntaje Matemática 2°M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6202C"/>
                </a:solidFill>
                <a:latin typeface="Source Sans Pro"/>
              </a:rPr>
              <a:t>· target_bin (≥ 252 puntos)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3090672"/>
            <a:ext cx="837590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100" b="1" i="0">
                <a:solidFill>
                  <a:srgbClr val="16202C"/>
                </a:solidFill>
                <a:latin typeface="Source Sans Pro"/>
              </a:rPr>
              <a:t>Si el resultado entrara como insumo, </a:t>
            </a:r>
            <a:r>
              <a:rPr sz="1100" b="0" i="0">
                <a:solidFill>
                  <a:srgbClr val="16202C"/>
                </a:solidFill>
                <a:latin typeface="Source Sans Pro"/>
              </a:rPr>
              <a:t>los grupos se separarían por logro por construcción y no probarían nada.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100" b="1" i="0">
                <a:solidFill>
                  <a:srgbClr val="16202C"/>
                </a:solidFill>
                <a:latin typeface="Source Sans Pro"/>
              </a:rPr>
              <a:t>Al dejar el contexto fuera podemos verificar después </a:t>
            </a:r>
            <a:r>
              <a:rPr sz="1100" b="0" i="0">
                <a:solidFill>
                  <a:srgbClr val="16202C"/>
                </a:solidFill>
                <a:latin typeface="Source Sans Pro"/>
              </a:rPr>
              <a:t>si los grupos quedaron comparables en nivel socioeconómico. Es lo que convierte «en condiciones similares» en algo medido y no supuesto.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100" b="1" i="0">
                <a:solidFill>
                  <a:srgbClr val="16202C"/>
                </a:solidFill>
                <a:latin typeface="Source Sans Pro"/>
              </a:rPr>
              <a:t>Estandarización obligatoria: </a:t>
            </a:r>
            <a:r>
              <a:rPr sz="1100" b="0" i="0">
                <a:solidFill>
                  <a:srgbClr val="16202C"/>
                </a:solidFill>
                <a:latin typeface="Source Sans Pro"/>
              </a:rPr>
              <a:t>convivencia va de 62 a 92, asistencia de 0,52 a 0,99 y género es un z-score. Sin StandardScaler, la convivencia dominaría la distancia euclidiana.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681728"/>
            <a:ext cx="83759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64748B"/>
                </a:solidFill>
                <a:latin typeface="Source Sans Pro"/>
              </a:rPr>
              <a:t>1.429 establecimientos · sin valores perdidos en las tres variables · fuente: tarea_clustering.ipynb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83464"/>
            <a:ext cx="8385048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  <a:latin typeface="Raleway"/>
              </a:rPr>
              <a:t>Clustering</a:t>
            </a:r>
          </a:p>
          <a:p>
            <a:pPr algn="l"/>
            <a:r>
              <a:rPr sz="1200" b="0" i="0">
                <a:solidFill>
                  <a:srgbClr val="2563EB"/>
                </a:solidFill>
                <a:latin typeface="Raleway SemiBold"/>
              </a:rPr>
              <a:t>Cómo elegimos el número de grupos y el algoritmo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44768" y="18288"/>
            <a:ext cx="299923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  <a:latin typeface="Raleway"/>
              </a:rPr>
              <a:t>Tarea de clustering</a:t>
            </a:r>
          </a:p>
        </p:txBody>
      </p:sp>
      <p:pic>
        <p:nvPicPr>
          <p:cNvPr id="4" name="Picture 3" descr="fig_metricas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78992"/>
            <a:ext cx="8375904" cy="23066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611880"/>
            <a:ext cx="4114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Regla fijada antes de mirar: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máximo de silhouette. Gana K-Means con k=2 (0,257).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Calinski-Harabasz coincide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(máximo en k=2, 548,1).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Davies-Bouldin no acompaña: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su mínimo está en k=8. Lo declaramos; k=8 fragmenta sin ganar interpretación.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3611880"/>
            <a:ext cx="4050791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Estructura moderada, no fuerte: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0,257 describe un gradiente segmentado, no dos poblaciones separadas.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Estable entre semillas: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20 semillas, ARI mínimo 0,986.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No entre algoritmos: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ARI 0,411 con Ward y 0,642 con GMM. El eje es sólido; la frontera depende del método.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873752"/>
            <a:ext cx="83759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64748B"/>
                </a:solidFill>
                <a:latin typeface="Source Sans Pro"/>
              </a:rPr>
              <a:t>El target no participó en ningún momento de la elección de k: el cruce con el resultado es análisis posterior.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83464"/>
            <a:ext cx="8385048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  <a:latin typeface="Raleway"/>
              </a:rPr>
              <a:t>Clustering</a:t>
            </a:r>
          </a:p>
          <a:p>
            <a:pPr algn="l"/>
            <a:r>
              <a:rPr sz="1200" b="0" i="0">
                <a:solidFill>
                  <a:srgbClr val="2563EB"/>
                </a:solidFill>
                <a:latin typeface="Raleway SemiBold"/>
              </a:rPr>
              <a:t>Los dos grupos que aparecen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44768" y="18288"/>
            <a:ext cx="299923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  <a:latin typeface="Raleway"/>
              </a:rPr>
              <a:t>Tarea de clustering</a:t>
            </a:r>
          </a:p>
        </p:txBody>
      </p:sp>
      <p:pic>
        <p:nvPicPr>
          <p:cNvPr id="4" name="Picture 3" descr="cluster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97280"/>
            <a:ext cx="3995225" cy="32461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17720" y="1170432"/>
          <a:ext cx="414223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133856"/>
                <a:gridCol w="113385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ource Sans Pro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ource Sans Pro"/>
                        </a:rPr>
                        <a:t>Cluster 0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ource Sans Pro"/>
                        </a:rPr>
                        <a:t>Cluster 1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Establecimientos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640  ·  44,8%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789  ·  55,2%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Convivencia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78,1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72,9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Asistencia 2°M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Estereotipos de género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−0,107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+0,080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17720" y="3035808"/>
            <a:ext cx="414223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000" b="1" i="0">
                <a:solidFill>
                  <a:srgbClr val="16202C"/>
                </a:solidFill>
                <a:latin typeface="Source Sans Pro"/>
              </a:rPr>
              <a:t>PC1 (44,4%) es el eje de procesos: </a:t>
            </a:r>
            <a:r>
              <a:rPr sz="1000" b="0" i="0">
                <a:solidFill>
                  <a:srgbClr val="16202C"/>
                </a:solidFill>
                <a:latin typeface="Source Sans Pro"/>
              </a:rPr>
              <a:t>carga casi igual en convivencia (+0,669) y asistencia (+0,666). Es el que separa.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000" b="1" i="0">
                <a:solidFill>
                  <a:srgbClr val="16202C"/>
                </a:solidFill>
                <a:latin typeface="Source Sans Pro"/>
              </a:rPr>
              <a:t>PC2 (32,0%) es género </a:t>
            </a:r>
            <a:r>
              <a:rPr sz="1000" b="0" i="0">
                <a:solidFill>
                  <a:srgbClr val="16202C"/>
                </a:solidFill>
                <a:latin typeface="Source Sans Pro"/>
              </a:rPr>
              <a:t>(+0,944), y ahí los grupos casi no se distinguen.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000" b="1" i="0">
                <a:solidFill>
                  <a:srgbClr val="16202C"/>
                </a:solidFill>
                <a:latin typeface="Source Sans Pro"/>
              </a:rPr>
              <a:t>76,4% de varianza retenida: </a:t>
            </a:r>
            <a:r>
              <a:rPr sz="1000" b="0" i="0">
                <a:solidFill>
                  <a:srgbClr val="16202C"/>
                </a:solidFill>
                <a:latin typeface="Source Sans Pro"/>
              </a:rPr>
              <a:t>la figura 2D representa fielmente el espacio.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5262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64748B"/>
                </a:solidFill>
                <a:latin typeface="Source Sans Pro"/>
              </a:rPr>
              <a:t>Las nubes se tocan: no hay frontera vacía, coherente con silhouette 0,257.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83464"/>
            <a:ext cx="8385048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  <a:latin typeface="Raleway"/>
              </a:rPr>
              <a:t>Clustering</a:t>
            </a:r>
          </a:p>
          <a:p>
            <a:pPr algn="l"/>
            <a:r>
              <a:rPr sz="1200" b="0" i="0">
                <a:solidFill>
                  <a:srgbClr val="2563EB"/>
                </a:solidFill>
                <a:latin typeface="Raleway SemiBold"/>
              </a:rPr>
              <a:t>El hallazgo: mismas condiciones, resultados distintos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44768" y="18288"/>
            <a:ext cx="299923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  <a:latin typeface="Raleway"/>
              </a:rPr>
              <a:t>Tarea de clustering</a:t>
            </a:r>
          </a:p>
        </p:txBody>
      </p:sp>
      <p:pic>
        <p:nvPicPr>
          <p:cNvPr id="4" name="Picture 3" descr="clust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4617720" cy="25904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74920" y="1115568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563EB"/>
                </a:solidFill>
                <a:latin typeface="Raleway SemiBold"/>
              </a:rPr>
              <a:t>Sobre la línea agrupan. Bajo la línea, no.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74920" y="1481328"/>
          <a:ext cx="3703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822960"/>
                <a:gridCol w="82296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Source Sans Pro"/>
                        </a:rPr>
                        <a:t>No se usó para agrupar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Source Sans Pro"/>
                        </a:rPr>
                        <a:t>Cl. 0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Source Sans Pro"/>
                        </a:rPr>
                        <a:t>Cl. 1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6202C"/>
                          </a:solidFill>
                          <a:latin typeface="Source Sans Pro"/>
                        </a:rPr>
                        <a:t>IVE medio (vulnerabilidad)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0,890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6202C"/>
                          </a:solidFill>
                          <a:latin typeface="Source Sans Pro"/>
                        </a:rPr>
                        <a:t>% docentes tramo avanzado+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6202C"/>
                          </a:solidFill>
                          <a:latin typeface="Source Sans Pro"/>
                        </a:rPr>
                        <a:t>31,2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6202C"/>
                          </a:solidFill>
                          <a:latin typeface="Source Sans Pro"/>
                        </a:rPr>
                        <a:t>33,2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6202C"/>
                          </a:solidFill>
                          <a:latin typeface="Source Sans Pro"/>
                        </a:rPr>
                        <a:t>Puntaje Matemática 2°M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6202C"/>
                          </a:solidFill>
                          <a:latin typeface="Source Sans Pro"/>
                        </a:rPr>
                        <a:t>248,4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6202C"/>
                          </a:solidFill>
                          <a:latin typeface="Source Sans Pro"/>
                        </a:rPr>
                        <a:t>229,6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6202C"/>
                          </a:solidFill>
                          <a:latin typeface="Source Sans Pro"/>
                        </a:rPr>
                        <a:t>% sobre 252 puntos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6202C"/>
                          </a:solidFill>
                          <a:latin typeface="Source Sans Pro"/>
                        </a:rPr>
                        <a:t>41,6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16202C"/>
                          </a:solidFill>
                          <a:latin typeface="Source Sans Pro"/>
                        </a:rPr>
                        <a:t>11,2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74920" y="3035808"/>
            <a:ext cx="17830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2000" b="1" i="0">
                <a:solidFill>
                  <a:srgbClr val="64748B"/>
                </a:solidFill>
                <a:latin typeface="Raleway"/>
              </a:rPr>
              <a:t>0,002</a:t>
            </a:r>
          </a:p>
          <a:p>
            <a:pPr algn="ctr"/>
            <a:r>
              <a:rPr sz="900" b="0" i="0">
                <a:solidFill>
                  <a:srgbClr val="64748B"/>
                </a:solidFill>
                <a:latin typeface="Source Sans Pro"/>
              </a:rPr>
              <a:t>de diferencia en IVE
(DE ≈ 0,06)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3035808"/>
            <a:ext cx="17830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2000" b="1" i="0">
                <a:solidFill>
                  <a:srgbClr val="2563EB"/>
                </a:solidFill>
                <a:latin typeface="Raleway"/>
              </a:rPr>
              <a:t>30,4 pp</a:t>
            </a:r>
          </a:p>
          <a:p>
            <a:pPr algn="ctr"/>
            <a:r>
              <a:rPr sz="900" b="0" i="0">
                <a:solidFill>
                  <a:srgbClr val="64748B"/>
                </a:solidFill>
                <a:latin typeface="Source Sans Pro"/>
              </a:rPr>
              <a:t>de brecha sobre el corte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3913632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Con el nivel socioeconómico igualado,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lo que separa a las escuelas que rinden mejor son sus procesos internos.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55371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ource Sans Pro"/>
              </a:rPr>
              <a:t>Advertencia: los grupos quedan igualados en IVE pero no en dependencia (Cl. 0: 68,1% part. subv.; Cl. 1: 47,5% municipal). Parte de la brecha puede ser efecto de sector.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83464"/>
            <a:ext cx="8385048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  <a:latin typeface="Raleway"/>
              </a:rPr>
              <a:t>Clustering</a:t>
            </a:r>
          </a:p>
          <a:p>
            <a:pPr algn="l"/>
            <a:r>
              <a:rPr sz="1200" b="0" i="0">
                <a:solidFill>
                  <a:srgbClr val="2563EB"/>
                </a:solidFill>
                <a:latin typeface="Raleway SemiBold"/>
              </a:rPr>
              <a:t>Revisión de casos: cinco escuelas típicas de cada grupo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44768" y="18288"/>
            <a:ext cx="299923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  <a:latin typeface="Raleway"/>
              </a:rPr>
              <a:t>Tarea de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83759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64748B"/>
                </a:solidFill>
                <a:latin typeface="Source Sans Pro"/>
              </a:rPr>
              <a:t>Criterio: menor distancia euclidiana al centroide en el espacio estandarizado. IVE y puntaje se muestran solo como contexto: no intervinieron en el agrupamiento.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3898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1BAF7A"/>
                </a:solidFill>
                <a:latin typeface="Raleway SemiBold"/>
              </a:rPr>
              <a:t>Cluster 0 — procesos favorables  (n=640)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1645920"/>
          <a:ext cx="8193024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7168"/>
                <a:gridCol w="1170432"/>
                <a:gridCol w="1490472"/>
                <a:gridCol w="731520"/>
                <a:gridCol w="731520"/>
                <a:gridCol w="731520"/>
                <a:gridCol w="850392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Establecimiento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Comuna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Dependencia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Conviv.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Asist.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IVE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Puntaje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Colegio Los Pensamientos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La Granja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Part. subv.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268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Centro Educacional London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La Florida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Part. subv.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78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0,902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0,882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233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Colegio Cristóbal Colón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Coquimbo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Part. subv.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295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Liceo Part. Libertad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Villarrica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Part. subv.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77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0,893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0,964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260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Colegio San Juan Bautista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Ovalle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Part. subv.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79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0,904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250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4048" y="315468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EB6834"/>
                </a:solidFill>
                <a:latin typeface="Raleway SemiBold"/>
              </a:rPr>
              <a:t>Cluster 1 — procesos más débiles  (n=789)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3410712"/>
          <a:ext cx="8193024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7168"/>
                <a:gridCol w="1170432"/>
                <a:gridCol w="1490472"/>
                <a:gridCol w="731520"/>
                <a:gridCol w="731520"/>
                <a:gridCol w="731520"/>
                <a:gridCol w="850392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Establecimiento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Comuna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Dependencia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Conviv.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Asist.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IVE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Puntaje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Liceo Nueva Zelandia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Santa Juana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Municipal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0,948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241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Liceo Bic. Domingo Santa María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Iquique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SLEP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73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0,841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0,764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234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Liceo de Yungay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Yungay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Municipal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0,958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249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Liceo Carelmapu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Maullín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Municipal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74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0,834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0,872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216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Liceo Gabriela Mistral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Independencia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Municipal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0,733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242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64748B"/>
                </a:solidFill>
                <a:latin typeface="Source Sans Pro"/>
              </a:rPr>
              <a:t>Pertenecer a un grupo no determina el resultado: entre los típicos del Cluster 0 hay escuelas de 233 y de 295 puntos. Las diferencias son de promedios, con fuerte solapamiento.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83464"/>
            <a:ext cx="8385048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  <a:latin typeface="Raleway"/>
              </a:rPr>
              <a:t>Clustering</a:t>
            </a:r>
          </a:p>
          <a:p>
            <a:pPr algn="l"/>
            <a:r>
              <a:rPr sz="1200" b="0" i="0">
                <a:solidFill>
                  <a:srgbClr val="2563EB"/>
                </a:solidFill>
                <a:latin typeface="Raleway SemiBold"/>
              </a:rPr>
              <a:t>Robustez: ¿y si el contexto sí entra al agrupamiento?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44768" y="18288"/>
            <a:ext cx="299923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  <a:latin typeface="Raleway"/>
              </a:rPr>
              <a:t>Tarea de clustering</a:t>
            </a:r>
          </a:p>
        </p:txBody>
      </p:sp>
      <p:pic>
        <p:nvPicPr>
          <p:cNvPr id="4" name="Picture 3" descr="fig_perfiles_k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60704"/>
            <a:ext cx="8375904" cy="25530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584448"/>
            <a:ext cx="4114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Otro espacio: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índice de clima (4 IDPS), género e IVE dentro. k=4.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Hopkins 0,819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antes de agrupar: los datos no son ruido uniforme.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Silhouette plana (0,23–0,25):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no hay k óptimo; elegimos 4 por interpretabilidad y lo declaramos.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3584448"/>
            <a:ext cx="4050791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ANOVA F = 50,3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(p ≈ 6×10⁻³¹) y χ² perfil × target p ≈ 1×10⁻²⁵. Cinco de seis pares significativos con Bonferroni.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La excepción es la clave: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clima favorable con alta vulnerabilidad (21,8%) empata con clima débil y baja vulnerabilidad (24,1%).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846320"/>
            <a:ext cx="83759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2563EB"/>
                </a:solidFill>
                <a:latin typeface="Source Sans Pro"/>
              </a:rPr>
              <a:t>Lectura conjunta: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la vulnerabilidad fija el techo; los procesos mueven dentro de ese techo. El Estado actúa sobre el techo; la escuela, dentro de él.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6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Clasificación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Ajuste de hiperparámetros y tratamiento del desbalance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310" name="Google Shape;310;p36"/>
          <p:cNvGrpSpPr/>
          <p:nvPr/>
        </p:nvGrpSpPr>
        <p:grpSpPr>
          <a:xfrm>
            <a:off x="381000" y="1190625"/>
            <a:ext cx="4038750" cy="714300"/>
            <a:chOff x="381000" y="1190625"/>
            <a:chExt cx="4038750" cy="714300"/>
          </a:xfrm>
        </p:grpSpPr>
        <p:sp>
          <p:nvSpPr>
            <p:cNvPr id="311" name="Google Shape;311;p36"/>
            <p:cNvSpPr/>
            <p:nvPr/>
          </p:nvSpPr>
          <p:spPr>
            <a:xfrm>
              <a:off x="381000" y="1238250"/>
              <a:ext cx="38100" cy="5715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6"/>
            <p:cNvSpPr txBox="1"/>
            <p:nvPr/>
          </p:nvSpPr>
          <p:spPr>
            <a:xfrm>
              <a:off x="514350" y="1190625"/>
              <a:ext cx="3905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1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Método y desbalance</a:t>
              </a:r>
              <a:endParaRPr b="1" sz="111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-419" sz="1018">
                  <a:solidFill>
                    <a:srgbClr val="1E293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GridSearchCV:</a:t>
              </a:r>
              <a:r>
                <a:rPr lang="es-419" sz="1018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Exhaustivo con StratifiedKFold (k=5) optimizando AUC-ROC. Mantiene 24,8% de clase positiva por pliegue.</a:t>
              </a:r>
              <a:endParaRPr sz="1018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s-419" sz="1018">
                  <a:solidFill>
                    <a:srgbClr val="1E293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Tratamiento:</a:t>
              </a:r>
              <a:r>
                <a:rPr lang="es-419" sz="1018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b="1" lang="es-419" sz="1018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class_weight="</a:t>
              </a:r>
              <a:r>
                <a:rPr b="1" lang="es-419" sz="1018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balanced</a:t>
              </a:r>
              <a:r>
                <a:rPr b="1" lang="es-419" sz="1018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s-419" sz="1018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sin remuestreo.</a:t>
              </a:r>
              <a:endParaRPr sz="1018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313" name="Google Shape;313;p36"/>
          <p:cNvGrpSpPr/>
          <p:nvPr/>
        </p:nvGrpSpPr>
        <p:grpSpPr>
          <a:xfrm>
            <a:off x="4469625" y="1140891"/>
            <a:ext cx="4038750" cy="857400"/>
            <a:chOff x="4469625" y="1140891"/>
            <a:chExt cx="4038750" cy="857400"/>
          </a:xfrm>
        </p:grpSpPr>
        <p:sp>
          <p:nvSpPr>
            <p:cNvPr id="314" name="Google Shape;314;p36"/>
            <p:cNvSpPr/>
            <p:nvPr/>
          </p:nvSpPr>
          <p:spPr>
            <a:xfrm>
              <a:off x="4469625" y="1188516"/>
              <a:ext cx="38100" cy="714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6"/>
            <p:cNvSpPr txBox="1"/>
            <p:nvPr/>
          </p:nvSpPr>
          <p:spPr>
            <a:xfrm>
              <a:off x="4602975" y="1140891"/>
              <a:ext cx="3905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1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Regresión logística</a:t>
              </a:r>
              <a:endParaRPr b="1" sz="111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-419" sz="1018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Barrido de </a:t>
              </a:r>
              <a:r>
                <a:rPr b="1" lang="es-419" sz="1018">
                  <a:solidFill>
                    <a:srgbClr val="1E293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 ∈ {0,01 · 0,1 · 1 · 10}</a:t>
              </a:r>
              <a:r>
                <a:rPr lang="es-419" sz="1018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 El AUC es plano en todo el rango (0,7762 a 0,7769).</a:t>
              </a:r>
              <a:endParaRPr sz="1018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s-419" sz="1018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Se fija </a:t>
              </a:r>
              <a:r>
                <a:rPr b="1" lang="es-419" sz="1018">
                  <a:solidFill>
                    <a:srgbClr val="1E293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 = 0,1</a:t>
              </a:r>
              <a:r>
                <a:rPr lang="es-419" sz="1018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para evitar que los coeficientes se encojan y pierdan interpretabilidad.</a:t>
              </a:r>
              <a:endParaRPr sz="1018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316" name="Google Shape;316;p36"/>
          <p:cNvGrpSpPr/>
          <p:nvPr/>
        </p:nvGrpSpPr>
        <p:grpSpPr>
          <a:xfrm>
            <a:off x="352500" y="2153018"/>
            <a:ext cx="4038750" cy="1047900"/>
            <a:chOff x="352500" y="2153018"/>
            <a:chExt cx="4038750" cy="1047900"/>
          </a:xfrm>
        </p:grpSpPr>
        <p:sp>
          <p:nvSpPr>
            <p:cNvPr id="317" name="Google Shape;317;p36"/>
            <p:cNvSpPr/>
            <p:nvPr/>
          </p:nvSpPr>
          <p:spPr>
            <a:xfrm>
              <a:off x="352500" y="2200643"/>
              <a:ext cx="38100" cy="9048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6"/>
            <p:cNvSpPr txBox="1"/>
            <p:nvPr/>
          </p:nvSpPr>
          <p:spPr>
            <a:xfrm>
              <a:off x="485850" y="2153018"/>
              <a:ext cx="3905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93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Random Forest</a:t>
              </a:r>
              <a:endParaRPr b="1" sz="93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Evaluación de </a:t>
              </a:r>
              <a:r>
                <a:rPr b="1" lang="es-419" sz="1000">
                  <a:solidFill>
                    <a:srgbClr val="1E293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9 combinaciones</a:t>
              </a:r>
              <a:r>
                <a:rPr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de max_depth × min_samples_leaf (300 árboles).</a:t>
              </a:r>
              <a:endParaRPr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s-419" sz="853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• El mejor resultado: </a:t>
              </a:r>
              <a:r>
                <a:rPr b="1" lang="es-419" sz="853">
                  <a:solidFill>
                    <a:srgbClr val="1E293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max_depth=None</a:t>
              </a:r>
              <a:r>
                <a:rPr lang="es-419" sz="853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con </a:t>
              </a:r>
              <a:r>
                <a:rPr b="1" lang="es-419" sz="853">
                  <a:solidFill>
                    <a:srgbClr val="1E293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min_samples_leaf=15</a:t>
              </a:r>
              <a:r>
                <a:rPr lang="es-419" sz="853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→ </a:t>
              </a:r>
              <a:r>
                <a:rPr b="1" lang="es-419" sz="853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AUC 0,7838</a:t>
              </a:r>
              <a:r>
                <a:rPr lang="es-419" sz="853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sz="853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s-419" sz="853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• Importa el tamaño de hoja, no la profundidad: con hoja = 1 el AUC cae a 0,7672.</a:t>
              </a:r>
              <a:endParaRPr sz="853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pic>
        <p:nvPicPr>
          <p:cNvPr id="319" name="Google Shape;31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7200" y="3108250"/>
            <a:ext cx="5489592" cy="19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7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Clasificación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Evaluación de los modelos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aphicFrame>
        <p:nvGraphicFramePr>
          <p:cNvPr id="325" name="Google Shape;325;p37"/>
          <p:cNvGraphicFramePr/>
          <p:nvPr/>
        </p:nvGraphicFramePr>
        <p:xfrm>
          <a:off x="381000" y="111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{814AF6BE-81F6-481A-B08C-F51207E83DDD}</a:tableStyleId>
              </a:tblPr>
              <a:tblGrid>
                <a:gridCol w="2015200"/>
                <a:gridCol w="761125"/>
                <a:gridCol w="861325"/>
                <a:gridCol w="707700"/>
                <a:gridCol w="908075"/>
                <a:gridCol w="7344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Modelo</a:t>
                      </a:r>
                      <a:endParaRPr b="1" sz="11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AUC test</a:t>
                      </a:r>
                      <a:endParaRPr b="1" sz="11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AUC 5-fold</a:t>
                      </a:r>
                      <a:endParaRPr b="1" sz="11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D.E.</a:t>
                      </a:r>
                      <a:endParaRPr b="1" sz="11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F1 macro</a:t>
                      </a:r>
                      <a:endParaRPr b="1" sz="11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Bal. acc.</a:t>
                      </a:r>
                      <a:endParaRPr b="1" sz="11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</a:tr>
              <a:tr h="197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Baseline (clase mayoritaria)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0,500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0,500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0,000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0,429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0,500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Regresión logística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0,817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0,783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0,014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0,696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0,744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197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Random Forest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0,810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0,788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0,004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0,709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0,735</a:t>
                      </a:r>
                      <a:endParaRPr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6" name="Google Shape;326;p37"/>
          <p:cNvSpPr txBox="1"/>
          <p:nvPr/>
        </p:nvSpPr>
        <p:spPr>
          <a:xfrm>
            <a:off x="381000" y="2170950"/>
            <a:ext cx="2718600" cy="19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-419" sz="115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 </a:t>
            </a:r>
            <a:r>
              <a:rPr b="1" lang="es-419" sz="115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 cifra que se reporta es el AUC de validación cruzada</a:t>
            </a:r>
            <a:r>
              <a:rPr lang="es-419" sz="115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no la del split único: 0,783 ± 0,014 la logística y 0,788 ± 0,004 el bosque.</a:t>
            </a:r>
            <a:endParaRPr sz="1150">
              <a:solidFill>
                <a:srgbClr val="16202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-419" sz="115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 </a:t>
            </a:r>
            <a:r>
              <a:rPr b="1" lang="es-419" sz="115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 diferencia entre los modelos cae dentro del margen de error.</a:t>
            </a:r>
            <a:r>
              <a:rPr lang="es-419" sz="115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Se mantiene la </a:t>
            </a:r>
            <a:r>
              <a:rPr b="1" lang="es-419" sz="115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logística como modelo principal</a:t>
            </a:r>
            <a:r>
              <a:rPr lang="es-419" sz="115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por interpretabilidad.</a:t>
            </a:r>
            <a:endParaRPr sz="1150">
              <a:solidFill>
                <a:srgbClr val="16202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27" name="Google Shape;32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4150" y="2170950"/>
            <a:ext cx="5786076" cy="2096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8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Clasificación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Histograma de scores y selección del umbral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333" name="Picture 332" descr="fig_umbral_balanc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060704"/>
            <a:ext cx="8375904" cy="2463275"/>
          </a:xfrm>
          <a:prstGeom prst="rect">
            <a:avLst/>
          </a:prstGeom>
        </p:spPr>
      </p:pic>
      <p:graphicFrame>
        <p:nvGraphicFramePr>
          <p:cNvPr id="334" name="Table 333"/>
          <p:cNvGraphicFramePr>
            <a:graphicFrameLocks noGrp="1"/>
          </p:cNvGraphicFramePr>
          <p:nvPr/>
        </p:nvGraphicFramePr>
        <p:xfrm>
          <a:off x="384048" y="3566160"/>
          <a:ext cx="489204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133856"/>
                <a:gridCol w="1133856"/>
                <a:gridCol w="1005840"/>
                <a:gridCol w="886968"/>
              </a:tblGrid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Umbral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Sensib. (supera)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Especif. (insuf.)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Bal. accuracy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ource Sans Pro"/>
                        </a:rPr>
                        <a:t>F1 macro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0,777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0,643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0,710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0,646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6202C"/>
                          </a:solidFill>
                          <a:latin typeface="Source Sans Pro"/>
                        </a:rPr>
                        <a:t>0,50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6202C"/>
                          </a:solidFill>
                          <a:latin typeface="Source Sans Pro"/>
                        </a:rPr>
                        <a:t>0,718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6202C"/>
                          </a:solidFill>
                          <a:latin typeface="Source Sans Pro"/>
                        </a:rPr>
                        <a:t>0,708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 i="0">
                          <a:solidFill>
                            <a:srgbClr val="16202C"/>
                          </a:solidFill>
                          <a:latin typeface="Source Sans Pro"/>
                        </a:rPr>
                        <a:t>0,7127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0,669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0,650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0,768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0,709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0,684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0,60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0,576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0,817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0,697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0,688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5440680" y="3566160"/>
            <a:ext cx="331927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5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950" b="1" i="0">
                <a:solidFill>
                  <a:srgbClr val="16202C"/>
                </a:solidFill>
                <a:latin typeface="Source Sans Pro"/>
              </a:rPr>
              <a:t>Las dos clases pesan lo mismo. </a:t>
            </a:r>
            <a:r>
              <a:rPr sz="950" b="0" i="0">
                <a:solidFill>
                  <a:srgbClr val="16202C"/>
                </a:solidFill>
                <a:latin typeface="Source Sans Pro"/>
              </a:rPr>
              <a:t>No armamos listas de escuelas: caracterizar bien a las que superan y a las que no es lo mismo.</a:t>
            </a:r>
          </a:p>
          <a:p>
            <a:pPr>
              <a:spcAft>
                <a:spcPts val="300"/>
              </a:spcAft>
            </a:pPr>
            <a:r>
              <a:rPr sz="95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950" b="1" i="0">
                <a:solidFill>
                  <a:srgbClr val="16202C"/>
                </a:solidFill>
                <a:latin typeface="Source Sans Pro"/>
              </a:rPr>
              <a:t>F1 no expresa eso: </a:t>
            </a:r>
            <a:r>
              <a:rPr sz="950" b="0" i="0">
                <a:solidFill>
                  <a:srgbClr val="16202C"/>
                </a:solidFill>
                <a:latin typeface="Source Sans Pro"/>
              </a:rPr>
              <a:t>ignora los verdaderos negativos. F1 macro se deja arrastrar por la clase mayoritaria.</a:t>
            </a:r>
          </a:p>
          <a:p>
            <a:pPr>
              <a:spcAft>
                <a:spcPts val="300"/>
              </a:spcAft>
            </a:pPr>
            <a:r>
              <a:rPr sz="95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950" b="1" i="0">
                <a:solidFill>
                  <a:srgbClr val="16202C"/>
                </a:solidFill>
                <a:latin typeface="Source Sans Pro"/>
              </a:rPr>
              <a:t>Balanced accuracy sí. </a:t>
            </a:r>
            <a:r>
              <a:rPr sz="950" b="0" i="0">
                <a:solidFill>
                  <a:srgbClr val="16202C"/>
                </a:solidFill>
                <a:latin typeface="Source Sans Pro"/>
              </a:rPr>
              <a:t>Su máximo fuera de fold cae exactamente en 0,50.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84048" y="4764024"/>
            <a:ext cx="83759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ource Sans Pro"/>
              </a:rPr>
              <a:t>Coincide con el óptimo teórico: al entrenar con class_weight="balanced" el modelo queda calibrado a un prior 50/50, así que con costos simétricos el corte óptimo es 0,50 por construcción. Curva sobre 1.429 scores fuera de fold, no sobre el split de 358.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Clasificación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Métricas de efectividad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342" name="Google Shape;34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750" y="1456225"/>
            <a:ext cx="2739800" cy="2900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3" name="Google Shape;343;p39"/>
          <p:cNvGraphicFramePr/>
          <p:nvPr/>
        </p:nvGraphicFramePr>
        <p:xfrm>
          <a:off x="3632625" y="162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{814AF6BE-81F6-481A-B08C-F51207E83DDD}</a:tableStyleId>
              </a:tblPr>
              <a:tblGrid>
                <a:gridCol w="2109975"/>
                <a:gridCol w="661575"/>
                <a:gridCol w="585225"/>
                <a:gridCol w="622425"/>
                <a:gridCol w="497550"/>
              </a:tblGrid>
              <a:tr h="306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Clase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Precis.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Recall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F1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n</a:t>
                      </a:r>
                      <a:endParaRPr b="1" sz="11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Insuficiente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0,903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0,725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0,804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269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Elemental o adecuado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0,479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0,764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0,589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89</a:t>
                      </a:r>
                      <a:endParaRPr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Macro promedio</a:t>
                      </a:r>
                      <a:endParaRPr b="1"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0,691</a:t>
                      </a:r>
                      <a:endParaRPr b="1"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0,744</a:t>
                      </a:r>
                      <a:endParaRPr b="1"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0,696</a:t>
                      </a:r>
                      <a:endParaRPr b="1"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6202C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358</a:t>
                      </a:r>
                      <a:endParaRPr b="1" sz="1100">
                        <a:solidFill>
                          <a:srgbClr val="16202C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4" name="TextBox 343"/>
          <p:cNvSpPr txBox="1"/>
          <p:nvPr/>
        </p:nvSpPr>
        <p:spPr>
          <a:xfrm>
            <a:off x="384048" y="4526280"/>
            <a:ext cx="83759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ource Sans Pro"/>
              </a:rPr>
              <a:t>Bajo el criterio de clases con igual peso se leen los dos recalls —0,725 y 0,764—, no la precisión: con 24,8% de prevalencia, la precisión de la clase positiva está acotada por la tasa base. Y 295 establecimientos (20,6%) están a menos de 10 puntos del corte: parte del error es la banda de ambigüedad.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0"/>
          <p:cNvSpPr txBox="1"/>
          <p:nvPr/>
        </p:nvSpPr>
        <p:spPr>
          <a:xfrm>
            <a:off x="285750" y="1095375"/>
            <a:ext cx="4286400" cy="334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1E29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Clima y dependencia administrativa</a:t>
            </a:r>
            <a:endParaRPr b="1" sz="1150">
              <a:solidFill>
                <a:srgbClr val="1E293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 la logística mandan el clima escolar y la dependencia. Clima y convivencia </a:t>
            </a:r>
            <a:r>
              <a:rPr b="1" lang="es-419" sz="105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0,099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particular subvencionado </a:t>
            </a:r>
            <a:r>
              <a:rPr b="1" lang="es-419" sz="105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0,086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asistencia </a:t>
            </a:r>
            <a:r>
              <a:rPr b="1" lang="es-419" sz="105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0,063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sz="1050">
              <a:solidFill>
                <a:srgbClr val="47556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1E29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Lectura de odds ratios</a:t>
            </a:r>
            <a:endParaRPr b="1" sz="1150">
              <a:solidFill>
                <a:srgbClr val="1E293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Lectura sustantiva: convivencia </a:t>
            </a:r>
            <a:r>
              <a:rPr b="1" lang="es-419" sz="1050">
                <a:solidFill>
                  <a:srgbClr val="3B82F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1,69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y asistencia </a:t>
            </a:r>
            <a:r>
              <a:rPr b="1" lang="es-419" sz="1050">
                <a:solidFill>
                  <a:srgbClr val="3B82F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1,64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por desv. estándar. Los estereotipos de género juegan en contra (</a:t>
            </a:r>
            <a:r>
              <a:rPr b="1" lang="es-419" sz="1050">
                <a:solidFill>
                  <a:srgbClr val="EF444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0,72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 y el IVE también (</a:t>
            </a:r>
            <a:r>
              <a:rPr b="1" lang="es-419" sz="1050">
                <a:solidFill>
                  <a:srgbClr val="EF444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0,75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).</a:t>
            </a:r>
            <a:endParaRPr sz="1050">
              <a:solidFill>
                <a:srgbClr val="47556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1E29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Docentes en tramo avanzado o experto</a:t>
            </a:r>
            <a:endParaRPr b="1" sz="1150">
              <a:solidFill>
                <a:srgbClr val="1E293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64748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 % de docentes en tramo avanzado </a:t>
            </a:r>
            <a:r>
              <a:rPr b="0" lang="es-419" sz="1050">
                <a:solidFill>
                  <a:srgbClr val="64748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 aporta</a:t>
            </a:r>
            <a:r>
              <a:rPr lang="es-419" sz="1050">
                <a:solidFill>
                  <a:srgbClr val="64748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(0,009 ± 0,010, indistinguible de cero).</a:t>
            </a:r>
            <a:endParaRPr sz="1050">
              <a:solidFill>
                <a:srgbClr val="64748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1E29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Análisis SHAP (Random Forest)</a:t>
            </a:r>
            <a:endParaRPr b="1" sz="1150">
              <a:solidFill>
                <a:srgbClr val="1E293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Reordena sin cambiar los factores asociados: asistencia </a:t>
            </a:r>
            <a:r>
              <a:rPr b="1" lang="es-419" sz="1050">
                <a:solidFill>
                  <a:srgbClr val="10B98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0,100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convivencia </a:t>
            </a:r>
            <a:r>
              <a:rPr b="1" lang="es-419" sz="1050">
                <a:solidFill>
                  <a:srgbClr val="10B98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0,076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particular subvencionado e IVE </a:t>
            </a:r>
            <a:r>
              <a:rPr b="1" lang="es-419" sz="1050">
                <a:solidFill>
                  <a:srgbClr val="10B98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0,061</a:t>
            </a: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sz="1050">
              <a:solidFill>
                <a:srgbClr val="47556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s-419" sz="1150">
                <a:solidFill>
                  <a:srgbClr val="1E29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Efectos con curva en S</a:t>
            </a:r>
            <a:endParaRPr b="1" sz="1150">
              <a:solidFill>
                <a:srgbClr val="1E293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 asistencia pesa fuerte bajo 0,80 y se aplana sobre 0,90.</a:t>
            </a:r>
            <a:endParaRPr sz="1050">
              <a:solidFill>
                <a:srgbClr val="47556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49" name="Google Shape;349;p40"/>
          <p:cNvPicPr preferRelativeResize="0"/>
          <p:nvPr/>
        </p:nvPicPr>
        <p:blipFill rotWithShape="1">
          <a:blip r:embed="rId4">
            <a:alphaModFix/>
          </a:blip>
          <a:srcRect b="219" l="0" r="0" t="219"/>
          <a:stretch/>
        </p:blipFill>
        <p:spPr>
          <a:xfrm>
            <a:off x="4762500" y="904875"/>
            <a:ext cx="4000500" cy="18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0"/>
          <p:cNvPicPr preferRelativeResize="0"/>
          <p:nvPr/>
        </p:nvPicPr>
        <p:blipFill rotWithShape="1">
          <a:blip r:embed="rId5">
            <a:alphaModFix/>
          </a:blip>
          <a:srcRect b="70" l="0" r="0" t="70"/>
          <a:stretch/>
        </p:blipFill>
        <p:spPr>
          <a:xfrm>
            <a:off x="4953000" y="2809875"/>
            <a:ext cx="3619500" cy="20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0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Clasificación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¿Qué factores se asocian al rendimiento?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1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Clasificación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Revisión de casos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aphicFrame>
        <p:nvGraphicFramePr>
          <p:cNvPr id="357" name="Google Shape;357;p41"/>
          <p:cNvGraphicFramePr/>
          <p:nvPr/>
        </p:nvGraphicFramePr>
        <p:xfrm>
          <a:off x="428438" y="118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{814AF6BE-81F6-481A-B08C-F51207E83DDD}</a:tableStyleId>
              </a:tblPr>
              <a:tblGrid>
                <a:gridCol w="1468700"/>
                <a:gridCol w="479475"/>
                <a:gridCol w="699775"/>
                <a:gridCol w="838200"/>
                <a:gridCol w="809625"/>
                <a:gridCol w="866775"/>
                <a:gridCol w="866775"/>
              </a:tblGrid>
              <a:tr h="168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Resultado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n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Conviv.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Asist.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IVE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Género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Puntaje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Acierto (insuficiente)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195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73,2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0,84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0,90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+0,04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224,5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Acierto (supera)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68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78,8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0,90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0,87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−0,13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271,9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Falso negativo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21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76,1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0,86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0,90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+0,11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267,0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Falso positivo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74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77,5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0,89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0,89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−0,09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232,5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8" name="Google Shape;358;p41"/>
          <p:cNvSpPr txBox="1"/>
          <p:nvPr/>
        </p:nvSpPr>
        <p:spPr>
          <a:xfrm>
            <a:off x="428450" y="2231075"/>
            <a:ext cx="5103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•  </a:t>
            </a:r>
            <a:r>
              <a:rPr b="1" lang="es-419" sz="120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Los 21 falsos negativos son el centro de la pregunta de investigación.</a:t>
            </a:r>
            <a:r>
              <a:rPr lang="es-419" sz="1200">
                <a:solidFill>
                  <a:srgbClr val="16202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Promedian 267 puntos con condiciones de contexto que predicen fracaso.</a:t>
            </a:r>
            <a:endParaRPr sz="1200">
              <a:solidFill>
                <a:srgbClr val="16202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359" name="Google Shape;359;p41"/>
          <p:cNvGraphicFramePr/>
          <p:nvPr/>
        </p:nvGraphicFramePr>
        <p:xfrm>
          <a:off x="381000" y="300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{814AF6BE-81F6-481A-B08C-F51207E83DDD}</a:tableStyleId>
              </a:tblPr>
              <a:tblGrid>
                <a:gridCol w="2114375"/>
                <a:gridCol w="1101425"/>
                <a:gridCol w="726125"/>
                <a:gridCol w="668525"/>
                <a:gridCol w="734700"/>
              </a:tblGrid>
              <a:tr h="226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Falsos negativos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Comuna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Score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IVE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Puntaje</a:t>
                      </a:r>
                      <a:endParaRPr b="1"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Liceo Bicent. de Excelencia Técnica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Loncoche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0,19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0,98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258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Liceo Industrial J. T. de Urmeneta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Coquimbo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0,22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0,93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267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Colegio Robinson Cabrera Beltrán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Retiro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0,29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0,97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282</a:t>
                      </a:r>
                      <a:endParaRPr sz="1000"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563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83464"/>
            <a:ext cx="8385048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  <a:latin typeface="Raleway"/>
              </a:rPr>
              <a:t>Conclusiones</a:t>
            </a:r>
          </a:p>
          <a:p>
            <a:pPr algn="l"/>
            <a:r>
              <a:rPr sz="1200" b="0" i="0">
                <a:solidFill>
                  <a:srgbClr val="2563EB"/>
                </a:solidFill>
                <a:latin typeface="Raleway SemiBold"/>
              </a:rPr>
              <a:t>Comparación de clasificadores: cuál elegimos y por qué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44768" y="18288"/>
            <a:ext cx="299923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  <a:latin typeface="Raleway"/>
              </a:rPr>
              <a:t>Conclusiones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1115568"/>
          <a:ext cx="8375904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504"/>
                <a:gridCol w="1051560"/>
                <a:gridCol w="1143000"/>
                <a:gridCol w="868680"/>
                <a:gridCol w="1188720"/>
                <a:gridCol w="1234440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ource Sans Pro"/>
                        </a:rPr>
                        <a:t>Modelo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ource Sans Pro"/>
                        </a:rPr>
                        <a:t>AUC test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ource Sans Pro"/>
                        </a:rPr>
                        <a:t>AUC 5-fold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ource Sans Pro"/>
                        </a:rPr>
                        <a:t>D.E.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ource Sans Pro"/>
                        </a:rPr>
                        <a:t>F1 macro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ource Sans Pro"/>
                        </a:rPr>
                        <a:t>Bal. acc.</a:t>
                      </a:r>
                    </a:p>
                  </a:txBody>
                  <a:tcPr marL="54864" marR="54864" marT="18288" marB="18288" anchor="ctr">
                    <a:solidFill>
                      <a:srgbClr val="2563E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Baseline (clase mayoritaria)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0,429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6202C"/>
                          </a:solidFill>
                          <a:latin typeface="Source Sans Pro"/>
                        </a:rPr>
                        <a:t>Regresión logística  (C = 0,1)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6202C"/>
                          </a:solidFill>
                          <a:latin typeface="Source Sans Pro"/>
                        </a:rPr>
                        <a:t>0,817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6202C"/>
                          </a:solidFill>
                          <a:latin typeface="Source Sans Pro"/>
                        </a:rPr>
                        <a:t>0,783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0,014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0,696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0,744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Random Forest  (hoja = 15)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0,810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0,788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0,004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0,709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6202C"/>
                          </a:solidFill>
                          <a:latin typeface="Source Sans Pro"/>
                        </a:rPr>
                        <a:t>0,735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4048" y="2267712"/>
            <a:ext cx="83759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64748B"/>
                </a:solidFill>
                <a:latin typeface="Source Sans Pro"/>
              </a:rPr>
              <a:t>Reportamos el AUC de validación cruzada, no el del split único: la del split es optimista. La diferencia entre logística y bosque —cinco milésimas— cae dentro del error.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633472"/>
            <a:ext cx="267004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82296"/>
          <a:lstStyle/>
          <a:p>
            <a:pPr algn="ctr"/>
            <a:r>
              <a:rPr sz="1700" b="1" i="0">
                <a:solidFill>
                  <a:srgbClr val="1BAF7A"/>
                </a:solidFill>
                <a:latin typeface="Raleway"/>
              </a:rPr>
              <a:t>1</a:t>
            </a:r>
          </a:p>
          <a:p>
            <a:pPr>
              <a:spcBef>
                <a:spcPts val="200"/>
              </a:spcBef>
            </a:pPr>
            <a:r>
              <a:rPr sz="1050" b="1" i="0">
                <a:solidFill>
                  <a:srgbClr val="0F172A"/>
                </a:solidFill>
                <a:latin typeface="Raleway SemiBold"/>
              </a:rPr>
              <a:t>No hay desempeño que resignar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6202C"/>
                </a:solidFill>
                <a:latin typeface="Source Sans Pro"/>
              </a:rPr>
              <a:t>0,783 contra 0,788, con desviaciones de 0,014 y 0,004. No existe un ganador estadístico que defender.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36976" y="2633472"/>
            <a:ext cx="267004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82296"/>
          <a:lstStyle/>
          <a:p>
            <a:pPr algn="ctr"/>
            <a:r>
              <a:rPr sz="1700" b="1" i="0">
                <a:solidFill>
                  <a:srgbClr val="2563EB"/>
                </a:solidFill>
                <a:latin typeface="Raleway"/>
              </a:rPr>
              <a:t>2</a:t>
            </a:r>
          </a:p>
          <a:p>
            <a:pPr>
              <a:spcBef>
                <a:spcPts val="200"/>
              </a:spcBef>
            </a:pPr>
            <a:r>
              <a:rPr sz="1050" b="1" i="0">
                <a:solidFill>
                  <a:srgbClr val="0F172A"/>
                </a:solidFill>
                <a:latin typeface="Raleway SemiBold"/>
              </a:rPr>
              <a:t>La interpretabilidad no cuesta nada acá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6202C"/>
                </a:solidFill>
                <a:latin typeface="Source Sans Pro"/>
              </a:rPr>
              <a:t>SHAP mostró que los efectos se suman más que se multiplican: no hay interacciones que un modelo aditivo se pierda.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9904" y="2633472"/>
            <a:ext cx="267004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82296"/>
          <a:lstStyle/>
          <a:p>
            <a:pPr algn="ctr"/>
            <a:r>
              <a:rPr sz="1700" b="1" i="0">
                <a:solidFill>
                  <a:srgbClr val="EB6834"/>
                </a:solidFill>
                <a:latin typeface="Raleway"/>
              </a:rPr>
              <a:t>3</a:t>
            </a:r>
          </a:p>
          <a:p>
            <a:pPr>
              <a:spcBef>
                <a:spcPts val="200"/>
              </a:spcBef>
            </a:pPr>
            <a:r>
              <a:rPr sz="1050" b="1" i="0">
                <a:solidFill>
                  <a:srgbClr val="0F172A"/>
                </a:solidFill>
                <a:latin typeface="Raleway SemiBold"/>
              </a:rPr>
              <a:t>El producto es el argumento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16202C"/>
                </a:solidFill>
                <a:latin typeface="Source Sans Pro"/>
              </a:rPr>
              <a:t>«Por cada desviación estándar de convivencia la chance se multiplica por 1,69» es discutible por un equipo directivo. 300 árboles no entregan esa frase.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498848"/>
            <a:ext cx="83759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2563EB"/>
                </a:solidFill>
                <a:latin typeface="Source Sans Pro"/>
              </a:rPr>
              <a:t>El bosque no se descarta: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de él salen las curvas en S de asistencia y convivencia vía SHAP, que son la parte más accionable del trabajo. La logística cuantifica; el bosque muestra la forma.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83464"/>
            <a:ext cx="8385048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  <a:latin typeface="Raleway"/>
              </a:rPr>
              <a:t>Conclusiones</a:t>
            </a:r>
          </a:p>
          <a:p>
            <a:pPr algn="l"/>
            <a:r>
              <a:rPr sz="1200" b="0" i="0">
                <a:solidFill>
                  <a:srgbClr val="2563EB"/>
                </a:solidFill>
                <a:latin typeface="Raleway SemiBold"/>
              </a:rPr>
              <a:t>Sobre qué puede actuar una escuela con los recursos que ya tiene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44768" y="18288"/>
            <a:ext cx="299923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  <a:latin typeface="Raleway"/>
              </a:rPr>
              <a:t>Conclusiones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3977639" cy="1143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73152"/>
          <a:lstStyle/>
          <a:p>
            <a:pPr algn="ctr"/>
            <a:r>
              <a:rPr sz="1050" b="1" i="0">
                <a:solidFill>
                  <a:srgbClr val="64748B"/>
                </a:solidFill>
                <a:latin typeface="Raleway SemiBold"/>
              </a:rPr>
              <a:t>NO lo decide la escuela  ·  estructural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16202C"/>
                </a:solidFill>
                <a:latin typeface="Source Sans Pro"/>
              </a:rPr>
              <a:t>Grupo socioeconómico · IVE · dependencia administrativa · zona urbano-rural</a:t>
            </a:r>
          </a:p>
          <a:p>
            <a:pPr>
              <a:spcBef>
                <a:spcPts val="300"/>
              </a:spcBef>
            </a:pPr>
            <a:r>
              <a:rPr sz="1000" b="0" i="1">
                <a:solidFill>
                  <a:srgbClr val="64748B"/>
                </a:solidFill>
                <a:latin typeface="Source Sans Pro"/>
              </a:rPr>
              <a:t>Pesa, y mucho. Pero no lo explica todo.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82312" y="1097280"/>
            <a:ext cx="3977639" cy="11430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 tIns="73152"/>
          <a:lstStyle/>
          <a:p>
            <a:pPr algn="ctr"/>
            <a:r>
              <a:rPr sz="1050" b="1" i="0">
                <a:solidFill>
                  <a:srgbClr val="1BAF7A"/>
                </a:solidFill>
                <a:latin typeface="Raleway SemiBold"/>
              </a:rPr>
              <a:t>SÍ lo decide la escuela  ·  accionable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16202C"/>
                </a:solidFill>
                <a:latin typeface="Source Sans Pro"/>
              </a:rPr>
              <a:t>Convivencia escolar · asistencia · estereotipos de género del estudiantado</a:t>
            </a:r>
          </a:p>
          <a:p>
            <a:pPr>
              <a:spcBef>
                <a:spcPts val="300"/>
              </a:spcBef>
            </a:pPr>
            <a:r>
              <a:rPr sz="1000" b="0" i="1">
                <a:solidFill>
                  <a:srgbClr val="1BAF7A"/>
                </a:solidFill>
                <a:latin typeface="Source Sans Pro"/>
              </a:rPr>
              <a:t>A igualdad de IVE (0,888 vs 0,890): 18,9 puntos y 30,4 pp de brecha.</a:t>
            </a:r>
          </a:p>
        </p:txBody>
      </p:sp>
      <p:pic>
        <p:nvPicPr>
          <p:cNvPr id="6" name="Picture 5" descr="L4-6d_shap_forma_asistencia_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395728"/>
            <a:ext cx="3553148" cy="2240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2395728"/>
            <a:ext cx="4480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Rendimientos decrecientes.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Bajo 0,80 de asistencia o bajo 72 de convivencia está casi todo el margen. Sobre 0,90 y sobre 80 el esfuerzo rinde poco: conviene moverlo. Importa porque el esfuerzo es limitado.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Los estereotipos de género no cuestan presupuesto.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Se trabajan con práctica pedagógica en el aula.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16202C"/>
                </a:solidFill>
                <a:latin typeface="Source Sans Pro"/>
              </a:rPr>
              <a:t>•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El tramo docente no discrimina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(AUC 0,539). Una escuela que espera mejores docentes para mejorar está esperando algo que no explica la diferencia.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700016"/>
            <a:ext cx="837590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563EB"/>
                </a:solidFill>
                <a:latin typeface="Raleway SemiBold"/>
              </a:rPr>
              <a:t>Controlando el contexto, sobra variación explicada por factores sobre los que una escuela sí puede intervenir.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83464"/>
            <a:ext cx="8385048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  <a:latin typeface="Raleway"/>
              </a:rPr>
              <a:t>Conclusiones</a:t>
            </a:r>
          </a:p>
          <a:p>
            <a:pPr algn="l"/>
            <a:r>
              <a:rPr sz="1200" b="0" i="0">
                <a:solidFill>
                  <a:srgbClr val="2563EB"/>
                </a:solidFill>
                <a:latin typeface="Raleway SemiBold"/>
              </a:rPr>
              <a:t>Lo que no permite concluir, y qué haríamos distinto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44768" y="18288"/>
            <a:ext cx="299923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  <a:latin typeface="Raleway"/>
              </a:rPr>
              <a:t>Conclusiones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3977639" cy="324612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150" b="1" i="0">
                <a:solidFill>
                  <a:srgbClr val="EB6834"/>
                </a:solidFill>
                <a:latin typeface="Raleway SemiBold"/>
              </a:rPr>
              <a:t>Lo que NO podemos afirmar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16202C"/>
                </a:solidFill>
                <a:latin typeface="Source Sans Pro"/>
              </a:rPr>
              <a:t>Nada de esto es causal.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Es un corte transversal y observacional de un año. La convivencia se asocia al logro; no decimos que subirla lo suba.</a:t>
            </a:r>
          </a:p>
          <a:p>
            <a:pPr>
              <a:spcBef>
                <a:spcPts val="500"/>
              </a:spcBef>
            </a:pPr>
            <a:r>
              <a:rPr sz="1050" b="1" i="0">
                <a:solidFill>
                  <a:srgbClr val="EB6834"/>
                </a:solidFill>
                <a:latin typeface="Source Sans Pro"/>
              </a:rPr>
              <a:t>·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Causalidad inversa: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una escuela que funciona bien probablemente genera mejor clima percibido.</a:t>
            </a:r>
          </a:p>
          <a:p>
            <a:pPr>
              <a:spcBef>
                <a:spcPts val="500"/>
              </a:spcBef>
            </a:pPr>
            <a:r>
              <a:rPr sz="1050" b="1" i="0">
                <a:solidFill>
                  <a:srgbClr val="EB6834"/>
                </a:solidFill>
                <a:latin typeface="Source Sans Pro"/>
              </a:rPr>
              <a:t>·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Sesgo de método común: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convivencia y género se miden con el cuestionario que responden los mismos estudiantes, el mismo día que rinden la prueba. La asistencia no tiene ese problema: es registro administrativo.</a:t>
            </a:r>
          </a:p>
          <a:p>
            <a:pPr>
              <a:spcBef>
                <a:spcPts val="500"/>
              </a:spcBef>
            </a:pPr>
            <a:r>
              <a:rPr sz="1050" b="1" i="0">
                <a:solidFill>
                  <a:srgbClr val="EB6834"/>
                </a:solidFill>
                <a:latin typeface="Source Sans Pro"/>
              </a:rPr>
              <a:t>·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Los grupos quedaron igualados en IVE,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pero no en dependencia administrativa.</a:t>
            </a:r>
          </a:p>
          <a:p>
            <a:pPr>
              <a:spcBef>
                <a:spcPts val="500"/>
              </a:spcBef>
            </a:pPr>
            <a:r>
              <a:rPr sz="1050" b="1" i="0">
                <a:solidFill>
                  <a:srgbClr val="EB6834"/>
                </a:solidFill>
                <a:latin typeface="Source Sans Pro"/>
              </a:rPr>
              <a:t>·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No generaliza a escuelas pequeñas: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quedaron fuera de la muestra.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82312" y="1097280"/>
            <a:ext cx="3977639" cy="32461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150" b="1" i="0">
                <a:solidFill>
                  <a:srgbClr val="2563EB"/>
                </a:solidFill>
                <a:latin typeface="Raleway SemiBold"/>
              </a:rPr>
              <a:t>Conocimiento adquirido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2563EB"/>
                </a:solidFill>
                <a:latin typeface="Source Sans Pro"/>
              </a:rPr>
              <a:t>1.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Verificar quién falta, no cuánto falta.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Excluimos 97 establecimientos por no respuesta en género. Al auditarlo: mediana de 29 estudiantes evaluados contra 64, 18,6% rurales contra 8,5%, y solo 3 de 97 superan el corte. Son escuelas chicas, donde diez no respuestas cruzan el umbral. El criterio de calidad de datos nos sesgó la muestra por tamaño.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2563EB"/>
                </a:solidFill>
                <a:latin typeface="Source Sans Pro"/>
              </a:rPr>
              <a:t>2.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Trazabilidad entre lo decidido y lo usado.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El EDA concluyó incorporar la composición SEP y quedó fuera de la base final. Agregándola, el AUC de CV sube de 0,783 a 0,806.</a:t>
            </a:r>
          </a:p>
          <a:p>
            <a:pPr>
              <a:spcBef>
                <a:spcPts val="600"/>
              </a:spcBef>
            </a:pPr>
            <a:r>
              <a:rPr sz="1050" b="1" i="0">
                <a:solidFill>
                  <a:srgbClr val="2563EB"/>
                </a:solidFill>
                <a:latin typeface="Source Sans Pro"/>
              </a:rPr>
              <a:t>3.  </a:t>
            </a:r>
            <a:r>
              <a:rPr sz="1050" b="1" i="0">
                <a:solidFill>
                  <a:srgbClr val="16202C"/>
                </a:solidFill>
                <a:latin typeface="Source Sans Pro"/>
              </a:rPr>
              <a:t>Evaluar la cobertura antes de construir. </a:t>
            </a:r>
            <a:r>
              <a:rPr sz="1050" b="0" i="0">
                <a:solidFill>
                  <a:srgbClr val="16202C"/>
                </a:solidFill>
                <a:latin typeface="Source Sans Pro"/>
              </a:rPr>
              <a:t>Levantamos dos indicadores docentes con análisis factorial completo y los descartamos por 28% de no respuesta.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498848"/>
            <a:ext cx="83759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2563EB"/>
                </a:solidFill>
                <a:latin typeface="Raleway SemiBold"/>
              </a:rPr>
              <a:t>Lo que nos llevamos: </a:t>
            </a:r>
            <a:r>
              <a:rPr sz="1150" b="0" i="0">
                <a:solidFill>
                  <a:srgbClr val="16202C"/>
                </a:solidFill>
                <a:latin typeface="Source Sans Pro"/>
              </a:rPr>
              <a:t>la parte difícil no fue modelar. Fue decidir qué cuenta como condición y qué cuenta como característica. Esa decisión no la resuelve ninguna métrica.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"/>
          <p:cNvSpPr txBox="1"/>
          <p:nvPr/>
        </p:nvSpPr>
        <p:spPr>
          <a:xfrm>
            <a:off x="571500" y="857250"/>
            <a:ext cx="47625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500"/>
              </a:spcAft>
              <a:buNone/>
            </a:pPr>
            <a:r>
              <a:rPr lang="es-419" sz="3800">
                <a:solidFill>
                  <a:srgbClr val="D6B4FC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¡Muchas gracias!</a:t>
            </a:r>
            <a:endParaRPr b="0" sz="2000">
              <a:solidFill>
                <a:srgbClr val="A992C4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65" name="Google Shape;365;p42"/>
          <p:cNvSpPr txBox="1"/>
          <p:nvPr/>
        </p:nvSpPr>
        <p:spPr>
          <a:xfrm>
            <a:off x="6000750" y="857250"/>
            <a:ext cx="2286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900">
                <a:solidFill>
                  <a:srgbClr val="D6B4F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Taller de proyecto</a:t>
            </a:r>
            <a:endParaRPr b="1" sz="900">
              <a:solidFill>
                <a:srgbClr val="D6B4F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Grupo 4</a:t>
            </a:r>
            <a:endParaRPr b="1" sz="18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419" sz="800">
                <a:solidFill>
                  <a:srgbClr val="A992C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Integrantes</a:t>
            </a:r>
            <a:endParaRPr b="0" sz="800">
              <a:solidFill>
                <a:srgbClr val="A992C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Felipe Riquelme Becerra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Jorge Sepúlveda Sepúlveda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Manuel Sanhueza Moncada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Osvaldo Vázquez Ortega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750"/>
              </a:spcBef>
              <a:spcAft>
                <a:spcPts val="750"/>
              </a:spcAft>
              <a:buNone/>
            </a:pPr>
            <a:r>
              <a:rPr b="0" lang="es-419"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Verónica Canales Guerrero</a:t>
            </a:r>
            <a:endParaRPr b="0" sz="100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7"/>
              <a:buFont typeface="Arial"/>
              <a:buNone/>
            </a:pPr>
            <a:r>
              <a:rPr lang="es-419"/>
              <a:t>Referencias bibliogr</a:t>
            </a:r>
            <a:r>
              <a:rPr lang="es-419"/>
              <a:t>áficas</a:t>
            </a:r>
            <a:endParaRPr/>
          </a:p>
        </p:txBody>
      </p:sp>
      <p:sp>
        <p:nvSpPr>
          <p:cNvPr id="371" name="Google Shape;371;p43"/>
          <p:cNvSpPr txBox="1"/>
          <p:nvPr/>
        </p:nvSpPr>
        <p:spPr>
          <a:xfrm>
            <a:off x="87325" y="1068425"/>
            <a:ext cx="90567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Agencia de Calidad de la Educación. (2013).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Metodología de construcción de grupos socioeconómicos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Recuperado de </a:t>
            </a:r>
            <a:r>
              <a:rPr lang="es-419" sz="10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3"/>
              </a:rPr>
              <a:t>https://archivos.agenciaeducacion.cl/Metodologia_de_Construccion_de_Grupos_Socioeconomicos_Simce_2013.pdf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Agencia de Calidad de la Educación. (2020).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Guía metodológica para el uso de datos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Recuperado de </a:t>
            </a:r>
            <a:r>
              <a:rPr lang="es-419" sz="10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4"/>
              </a:rPr>
              <a:t>https://archivos.agenciaeducacion.cl/Libro_Guia_Metodologica_Uso_de_Datos_2020.pdf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Agencia de Calidad de la Educación. (2026).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Evaluaciones nacionales estandarizadas 2024: Informe técnico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Recuperado de </a:t>
            </a:r>
            <a:r>
              <a:rPr lang="es-419" sz="10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5"/>
              </a:rPr>
              <a:t>https://s3.us-east-1.amazonaws.com/archivos.agenciaeducacion.cl/Informe_Tecnico_2024.pdf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Agencia de Calidad de la Educación. (2026).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Indicadores de desarrollo personal y social medidos en cuestionarios autorreportados: Informe técnico 2024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Recuperado de </a:t>
            </a:r>
            <a:r>
              <a:rPr lang="es-419" sz="10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6"/>
              </a:rPr>
              <a:t>https://s3.us-east-1.amazonaws.com/archivos.agenciaeducacion.cl/IDPS_Informe-tecnico-2024.pdf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Agencia de Calidad de la Educación. (s.f.).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¿Por qué no se pueden entregar resultados individuales?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Recuperado de</a:t>
            </a:r>
            <a:r>
              <a:rPr lang="es-419" sz="1000">
                <a:solidFill>
                  <a:schemeClr val="dk2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-419" sz="10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8"/>
              </a:rPr>
              <a:t>https://www.agenciaeducacion.cl/</a:t>
            </a:r>
            <a:endParaRPr sz="1000" u="sng">
              <a:solidFill>
                <a:schemeClr val="hlink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Agencia de Calidad de la Educación. (s.f.).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¿Qué comparaciones entre resultados Simce de un mismo año son incorrectas?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Recuperado de</a:t>
            </a:r>
            <a:r>
              <a:rPr lang="es-419" sz="1000">
                <a:solidFill>
                  <a:schemeClr val="dk2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-419" sz="10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10"/>
              </a:rPr>
              <a:t>https://www.agenciaeducacion.cl/</a:t>
            </a:r>
            <a:endParaRPr sz="1000" u="sng">
              <a:solidFill>
                <a:schemeClr val="hlink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Bellei, C., Muñoz, G., Pérez, L. M., &amp; Raczynski, D. (2004).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¿Quién dijo que no se puede? Escuelas efectivas en sectores de pobreza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UNICEF; Ministerio de Educación de Chile.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Cai, L., &amp; Zhu, Y. (2015). The challenges of data quality and data quality assessment in the big data era.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Data Science Journal, 14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2.</a:t>
            </a:r>
            <a:r>
              <a:rPr lang="es-419" sz="1000">
                <a:solidFill>
                  <a:schemeClr val="dk2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-419" sz="1000"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12"/>
              </a:rPr>
              <a:t>https://doi.org/10.5334/dsj-2015-002</a:t>
            </a:r>
            <a:endParaRPr sz="1000" u="sng">
              <a:solidFill>
                <a:schemeClr val="hlink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 u="sng">
              <a:solidFill>
                <a:schemeClr val="hlink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7"/>
              <a:buFont typeface="Arial"/>
              <a:buNone/>
            </a:pPr>
            <a:r>
              <a:rPr lang="es-419"/>
              <a:t>Referencias bibliográficas</a:t>
            </a:r>
            <a:endParaRPr/>
          </a:p>
        </p:txBody>
      </p:sp>
      <p:sp>
        <p:nvSpPr>
          <p:cNvPr id="377" name="Google Shape;377;p44"/>
          <p:cNvSpPr txBox="1"/>
          <p:nvPr/>
        </p:nvSpPr>
        <p:spPr>
          <a:xfrm>
            <a:off x="96050" y="1208200"/>
            <a:ext cx="89349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Carabaña, J. (2016). El Informe Coleman, 50 años después.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Revista de Sociología de la Educación-RASE, 9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(1), 9–21.</a:t>
            </a:r>
            <a:r>
              <a:rPr lang="es-419" sz="1000">
                <a:solidFill>
                  <a:schemeClr val="dk2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-419" sz="1000" u="sng">
                <a:solidFill>
                  <a:schemeClr val="accent5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https://doi.org/10.7203/RASE.9.1.8400</a:t>
            </a:r>
            <a:endParaRPr sz="1000" u="sng">
              <a:solidFill>
                <a:schemeClr val="accent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Coleman, J. S., Campbell, E. Q., Hobson, C. J., McPartland, J., Mood, A. M., Weinfeld, F. D., &amp; York, R. (1966).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Equality of educational opportunity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U.S. Government Printing Office.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Del Río, M. F., Susperreguy, M. I., Strasser, K., Iturra, C., &amp; Gallardo, I. (2019).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Creencias sobre matemática y género de estudiantes, docentes y padres: Datos sensibles para el diseño de intervenciones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(Informe Final FONIDE, Proyecto FON1700003). Ministerio de Educación de Chile.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Gamoran, A., &amp; Long, D. A. (2006).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Equality of educational opportunity: A 40-year retrospective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(WCER Working Paper No. 2006-9). University of Wisconsin–Madison, Wisconsin Center for Education Research.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Laboratorio de Gobierno. (2025).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Agilizando la entrega del SIMCE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r>
              <a:rPr lang="es-419" sz="1000">
                <a:solidFill>
                  <a:schemeClr val="dk2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-419" sz="1000" u="sng">
                <a:solidFill>
                  <a:schemeClr val="accent5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https://drive.google.com/file/d/1EbPf3O7McBetNWfGU2AJ_oTQv1C7RKcU/view</a:t>
            </a:r>
            <a:endParaRPr sz="1000" u="sng">
              <a:solidFill>
                <a:schemeClr val="accent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Manzi, J., Bogolasky, F., Gutiérrez, G., Grau, V., &amp; Volante, P. (2014).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Análisis sobre valoraciones, comprensión y uso del SIMCE por parte de directores escolares de establecimientos subvencionados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(Informe Final FONIDE F711269). Ministerio de Educación de Chile.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Tomaszewski, W., Xiang, N., &amp; Western, M. (2020). Student engagement as a mediator of the effects of socio-economic status on academic performance among secondary school students in Australia.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British Educational Research Journal, 46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(3), 610–630.</a:t>
            </a:r>
            <a:r>
              <a:rPr lang="es-419" sz="1000">
                <a:solidFill>
                  <a:schemeClr val="dk2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-419" sz="1000" u="sng">
                <a:solidFill>
                  <a:schemeClr val="accent5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https://doi.org/10.1002/berj.3599</a:t>
            </a:r>
            <a:endParaRPr sz="1000" u="sng">
              <a:solidFill>
                <a:schemeClr val="accent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Treviño, E. (s.f.). Resultados individuales del SIMCE [Columna de opinión]. </a:t>
            </a:r>
            <a:r>
              <a:rPr i="1"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 Tercera</a:t>
            </a:r>
            <a:r>
              <a:rPr lang="es-419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r>
              <a:rPr lang="es-419" sz="1000">
                <a:solidFill>
                  <a:schemeClr val="dk2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-419" sz="1000" u="sng">
                <a:solidFill>
                  <a:schemeClr val="accent5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https://www.latercera.com/diario-impreso/resultados-individuales-del-simce/</a:t>
            </a:r>
            <a:endParaRPr sz="1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65960"/>
            <a:ext cx="801014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Raleway"/>
              </a:rPr>
              <a:t>Anexo</a:t>
            </a:r>
          </a:p>
          <a:p>
            <a:r>
              <a:rPr sz="1200" b="0" i="0">
                <a:solidFill>
                  <a:srgbClr val="64748B"/>
                </a:solidFill>
                <a:latin typeface="Source Sans Pro"/>
              </a:rPr>
              <a:t>Material de respaldo para preguntas: fuentes de datos en detalle, segundo panel de outliers, matrices de dispersión y síntesis de relaciones.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311700" y="285750"/>
            <a:ext cx="85206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i="0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238997" y="808250"/>
            <a:ext cx="362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11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rPr>
              <a:t>Análisis de outliers</a:t>
            </a:r>
            <a:endParaRPr b="1" sz="1100">
              <a:solidFill>
                <a:srgbClr val="2563E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80" name="Google Shape;18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00" y="1238450"/>
            <a:ext cx="5664033" cy="367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Exploración y relaciones entre dimensiones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186" name="Google Shape;186;p27"/>
          <p:cNvGrpSpPr/>
          <p:nvPr/>
        </p:nvGrpSpPr>
        <p:grpSpPr>
          <a:xfrm>
            <a:off x="381000" y="1190625"/>
            <a:ext cx="3905400" cy="3571800"/>
            <a:chOff x="381000" y="1190625"/>
            <a:chExt cx="3905400" cy="3571800"/>
          </a:xfrm>
        </p:grpSpPr>
        <p:sp>
          <p:nvSpPr>
            <p:cNvPr id="187" name="Google Shape;187;p27"/>
            <p:cNvSpPr/>
            <p:nvPr/>
          </p:nvSpPr>
          <p:spPr>
            <a:xfrm>
              <a:off x="381000" y="1190625"/>
              <a:ext cx="3905400" cy="3571800"/>
            </a:xfrm>
            <a:prstGeom prst="roundRect">
              <a:avLst>
                <a:gd fmla="val 32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7"/>
            <p:cNvSpPr txBox="1"/>
            <p:nvPr/>
          </p:nvSpPr>
          <p:spPr>
            <a:xfrm>
              <a:off x="619125" y="1381125"/>
              <a:ext cx="3429000" cy="3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1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Relación con rendimiento SIMCE</a:t>
              </a:r>
              <a:endParaRPr b="1" sz="111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-419" sz="1018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Los establecimientos con puntajes más altos en el SIMCE tienden a registrar mejores índices en los IDPS, existiendo una </a:t>
              </a:r>
              <a:r>
                <a:rPr b="1" lang="es-419" sz="1018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relación moderada</a:t>
              </a:r>
              <a:r>
                <a:rPr b="0" lang="es-419" sz="1018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(con excepciones).</a:t>
              </a:r>
              <a:endParaRPr b="0" sz="1018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-419" sz="111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Asociación entre indicadores IDPS</a:t>
              </a:r>
              <a:endParaRPr b="1" sz="111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-419" sz="1018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Se observa una </a:t>
              </a:r>
              <a:r>
                <a:rPr b="1" lang="es-419" sz="1018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relación lineal clara y positiva</a:t>
              </a:r>
              <a:r>
                <a:rPr b="0" lang="es-419" sz="1018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al </a:t>
              </a:r>
              <a:r>
                <a:rPr lang="es-419" sz="1018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analizar</a:t>
              </a:r>
              <a:r>
                <a:rPr b="0" lang="es-419" sz="1018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las diferentes dimensiones de los IDPS entre sí.</a:t>
              </a:r>
              <a:endParaRPr b="0" sz="1018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-419" sz="1110">
                  <a:solidFill>
                    <a:srgbClr val="10B98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Distribución de los IDPS (diagonal)</a:t>
              </a:r>
              <a:endParaRPr b="1" sz="1110">
                <a:solidFill>
                  <a:srgbClr val="10B98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0274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971"/>
                <a:buFont typeface="Source Sans Pro"/>
                <a:buChar char="●"/>
              </a:pPr>
              <a:r>
                <a:rPr lang="es-419" sz="971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La gran mayoría de los establecimientos se sitúa </a:t>
              </a:r>
              <a:r>
                <a:rPr b="1" lang="es-419" sz="971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sobre los 60 puntos</a:t>
              </a:r>
              <a:r>
                <a:rPr lang="es-419" sz="971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(en escala de 0 a 100).</a:t>
              </a:r>
              <a:endParaRPr sz="971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0274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971"/>
                <a:buFont typeface="Source Sans Pro"/>
                <a:buChar char="●"/>
              </a:pPr>
              <a:r>
                <a:rPr lang="es-419" sz="971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Existe una alta concentración en el centro, reflejando una </a:t>
              </a:r>
              <a:r>
                <a:rPr b="1" lang="es-419" sz="971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baja desviación estándar</a:t>
              </a:r>
              <a:r>
                <a:rPr lang="es-419" sz="971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por dimensión.</a:t>
              </a:r>
              <a:endParaRPr sz="971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0274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971"/>
                <a:buFont typeface="Source Sans Pro"/>
                <a:buChar char="●"/>
              </a:pPr>
              <a:r>
                <a:rPr lang="es-419" sz="971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En grupos con promedio elemental/adecuado se aprecia una dispersión </a:t>
              </a:r>
              <a:r>
                <a:rPr b="1" lang="es-419" sz="971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levemente desplazada a la derecha</a:t>
              </a:r>
              <a:r>
                <a:rPr lang="es-419" sz="971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sz="971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89" name="Google Shape;189;p27"/>
          <p:cNvGrpSpPr/>
          <p:nvPr/>
        </p:nvGrpSpPr>
        <p:grpSpPr>
          <a:xfrm>
            <a:off x="4524375" y="1190625"/>
            <a:ext cx="4238700" cy="3571800"/>
            <a:chOff x="4524375" y="1190625"/>
            <a:chExt cx="4238700" cy="3571800"/>
          </a:xfrm>
        </p:grpSpPr>
        <p:sp>
          <p:nvSpPr>
            <p:cNvPr id="190" name="Google Shape;190;p27"/>
            <p:cNvSpPr/>
            <p:nvPr/>
          </p:nvSpPr>
          <p:spPr>
            <a:xfrm>
              <a:off x="4524375" y="1190625"/>
              <a:ext cx="4238700" cy="3571800"/>
            </a:xfrm>
            <a:prstGeom prst="roundRect">
              <a:avLst>
                <a:gd fmla="val 32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1" name="Google Shape;191;p27"/>
            <p:cNvPicPr preferRelativeResize="0"/>
            <p:nvPr/>
          </p:nvPicPr>
          <p:blipFill rotWithShape="1">
            <a:blip r:embed="rId4">
              <a:alphaModFix/>
            </a:blip>
            <a:srcRect b="3244" l="0" r="0" t="3254"/>
            <a:stretch/>
          </p:blipFill>
          <p:spPr>
            <a:xfrm>
              <a:off x="4667250" y="1333500"/>
              <a:ext cx="3952800" cy="3286200"/>
            </a:xfrm>
            <a:prstGeom prst="roundRect">
              <a:avLst>
                <a:gd fmla="val 2318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Exploración y relaciones entre dimensiones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197" name="Google Shape;197;p28"/>
          <p:cNvGrpSpPr/>
          <p:nvPr/>
        </p:nvGrpSpPr>
        <p:grpSpPr>
          <a:xfrm>
            <a:off x="381000" y="1190625"/>
            <a:ext cx="4286400" cy="3724200"/>
            <a:chOff x="381000" y="1190625"/>
            <a:chExt cx="4286400" cy="3724200"/>
          </a:xfrm>
        </p:grpSpPr>
        <p:sp>
          <p:nvSpPr>
            <p:cNvPr id="198" name="Google Shape;198;p28"/>
            <p:cNvSpPr/>
            <p:nvPr/>
          </p:nvSpPr>
          <p:spPr>
            <a:xfrm>
              <a:off x="381000" y="1190625"/>
              <a:ext cx="4286400" cy="3724200"/>
            </a:xfrm>
            <a:prstGeom prst="roundRect">
              <a:avLst>
                <a:gd fmla="val 306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9" name="Google Shape;199;p28"/>
            <p:cNvPicPr preferRelativeResize="0"/>
            <p:nvPr/>
          </p:nvPicPr>
          <p:blipFill rotWithShape="1">
            <a:blip r:embed="rId4">
              <a:alphaModFix/>
            </a:blip>
            <a:srcRect b="308" l="0" r="0" t="298"/>
            <a:stretch/>
          </p:blipFill>
          <p:spPr>
            <a:xfrm>
              <a:off x="476250" y="1285875"/>
              <a:ext cx="4095900" cy="3533700"/>
            </a:xfrm>
            <a:prstGeom prst="roundRect">
              <a:avLst>
                <a:gd fmla="val 2156" name="adj"/>
              </a:avLst>
            </a:prstGeom>
            <a:noFill/>
            <a:ln>
              <a:noFill/>
            </a:ln>
          </p:spPr>
        </p:pic>
      </p:grpSp>
      <p:grpSp>
        <p:nvGrpSpPr>
          <p:cNvPr id="200" name="Google Shape;200;p28"/>
          <p:cNvGrpSpPr/>
          <p:nvPr/>
        </p:nvGrpSpPr>
        <p:grpSpPr>
          <a:xfrm>
            <a:off x="4857750" y="1190625"/>
            <a:ext cx="3905400" cy="3724200"/>
            <a:chOff x="4857750" y="1190625"/>
            <a:chExt cx="3905400" cy="3724200"/>
          </a:xfrm>
        </p:grpSpPr>
        <p:sp>
          <p:nvSpPr>
            <p:cNvPr id="201" name="Google Shape;201;p28"/>
            <p:cNvSpPr/>
            <p:nvPr/>
          </p:nvSpPr>
          <p:spPr>
            <a:xfrm>
              <a:off x="4857750" y="1190625"/>
              <a:ext cx="3905400" cy="3724200"/>
            </a:xfrm>
            <a:prstGeom prst="roundRect">
              <a:avLst>
                <a:gd fmla="val 306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8"/>
            <p:cNvSpPr txBox="1"/>
            <p:nvPr/>
          </p:nvSpPr>
          <p:spPr>
            <a:xfrm>
              <a:off x="5048250" y="1381125"/>
              <a:ext cx="3524400" cy="33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150">
                  <a:solidFill>
                    <a:srgbClr val="2563E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Relación con rendimiento SIMCE</a:t>
              </a:r>
              <a:endParaRPr b="1" sz="1150">
                <a:solidFill>
                  <a:srgbClr val="2563EB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La asistencia de los estudiantes de segundo medio tiende a presentar una asociación más clara con los resultados del SIMCE: a mayor asistencia, mejores resultados en la prueba de matemáticas.</a:t>
              </a:r>
              <a:endParaRPr b="0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La relación con las creencias de género y el índice de vulnerabilidad es moderada.</a:t>
              </a:r>
              <a:endParaRPr b="0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0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No se observa una asociación entre el porcentaje de docentes en tramos avanzado y experto con el nivel de logro académico.</a:t>
              </a:r>
              <a:endParaRPr b="0" sz="100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-419" sz="1150">
                  <a:solidFill>
                    <a:srgbClr val="10B98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Distribución atributos (diagonal)</a:t>
              </a:r>
              <a:endParaRPr b="1" sz="1150">
                <a:solidFill>
                  <a:srgbClr val="10B98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Source Sans Pro"/>
                <a:buChar char="●"/>
              </a:pPr>
              <a:r>
                <a:rPr b="0" lang="es-419" sz="9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En general, existe una alta concentración en el centro, reflejando una </a:t>
              </a:r>
              <a:r>
                <a:rPr b="1" lang="es-419" sz="9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baja desviación estándar</a:t>
              </a:r>
              <a:r>
                <a:rPr b="0" lang="es-419" sz="9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por </a:t>
              </a:r>
              <a:r>
                <a:rPr lang="es-419" sz="9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indicador</a:t>
              </a:r>
              <a:r>
                <a:rPr b="0" lang="es-419" sz="9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b="0" sz="9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Source Sans Pro"/>
                <a:buChar char="●"/>
              </a:pPr>
              <a:r>
                <a:rPr b="0" lang="es-419" sz="9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Para asistencia, los establecimientos con promedio elemental/adecuado presentan una dispersión </a:t>
              </a:r>
              <a:r>
                <a:rPr b="1" lang="es-419" sz="9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desplazada a la derecha</a:t>
              </a:r>
              <a:r>
                <a:rPr b="0" lang="es-419" sz="9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  <a:endParaRPr b="0" sz="9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Exploración de datos</a:t>
            </a:r>
            <a:endParaRPr b="1" sz="26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</a:t>
            </a:r>
            <a:r>
              <a:rPr b="0" lang="es-419" sz="1200">
                <a:solidFill>
                  <a:srgbClr val="2563EB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elaciones clave encontradas en el análisis</a:t>
            </a:r>
            <a:endParaRPr b="0" sz="1200">
              <a:solidFill>
                <a:srgbClr val="2563EB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208" name="Google Shape;208;p29"/>
          <p:cNvGrpSpPr/>
          <p:nvPr/>
        </p:nvGrpSpPr>
        <p:grpSpPr>
          <a:xfrm>
            <a:off x="381000" y="1333500"/>
            <a:ext cx="2571900" cy="3333900"/>
            <a:chOff x="381000" y="1333500"/>
            <a:chExt cx="2571900" cy="3333900"/>
          </a:xfrm>
        </p:grpSpPr>
        <p:sp>
          <p:nvSpPr>
            <p:cNvPr id="209" name="Google Shape;209;p29"/>
            <p:cNvSpPr/>
            <p:nvPr/>
          </p:nvSpPr>
          <p:spPr>
            <a:xfrm>
              <a:off x="381000" y="1333500"/>
              <a:ext cx="2571900" cy="33339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9"/>
            <p:cNvSpPr txBox="1"/>
            <p:nvPr/>
          </p:nvSpPr>
          <p:spPr>
            <a:xfrm>
              <a:off x="523875" y="1476375"/>
              <a:ext cx="2286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2563EB"/>
                  </a:solidFill>
                  <a:latin typeface="Raleway"/>
                  <a:ea typeface="Raleway"/>
                  <a:cs typeface="Raleway"/>
                  <a:sym typeface="Raleway"/>
                </a:rPr>
                <a:t>Rendimiento SIMCE</a:t>
              </a:r>
              <a:endParaRPr b="1" sz="14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Se identifican </a:t>
              </a:r>
              <a:r>
                <a:rPr b="1" lang="es-419" sz="110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asociaciones moderadas, pero robustas</a:t>
              </a:r>
              <a:r>
                <a:rPr b="0" lang="es-419" sz="110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entre el promedio Simce y la mayor parte de las variables analizadas.</a:t>
              </a:r>
              <a:endParaRPr b="0" sz="110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11" name="Google Shape;211;p29"/>
          <p:cNvGrpSpPr/>
          <p:nvPr/>
        </p:nvGrpSpPr>
        <p:grpSpPr>
          <a:xfrm>
            <a:off x="3286125" y="1333500"/>
            <a:ext cx="2571900" cy="3333900"/>
            <a:chOff x="3286125" y="1333500"/>
            <a:chExt cx="2571900" cy="3333900"/>
          </a:xfrm>
        </p:grpSpPr>
        <p:sp>
          <p:nvSpPr>
            <p:cNvPr id="212" name="Google Shape;212;p29"/>
            <p:cNvSpPr/>
            <p:nvPr/>
          </p:nvSpPr>
          <p:spPr>
            <a:xfrm>
              <a:off x="3286125" y="1333500"/>
              <a:ext cx="2571900" cy="33339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9"/>
            <p:cNvSpPr txBox="1"/>
            <p:nvPr/>
          </p:nvSpPr>
          <p:spPr>
            <a:xfrm>
              <a:off x="3429000" y="1476375"/>
              <a:ext cx="2286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2563EB"/>
                  </a:solidFill>
                  <a:latin typeface="Raleway"/>
                  <a:ea typeface="Raleway"/>
                  <a:cs typeface="Raleway"/>
                  <a:sym typeface="Raleway"/>
                </a:rPr>
                <a:t>Consistencia </a:t>
              </a:r>
              <a:r>
                <a:rPr b="1" lang="es-419">
                  <a:solidFill>
                    <a:srgbClr val="2563EB"/>
                  </a:solidFill>
                  <a:latin typeface="Raleway"/>
                  <a:ea typeface="Raleway"/>
                  <a:cs typeface="Raleway"/>
                  <a:sym typeface="Raleway"/>
                </a:rPr>
                <a:t>con literatura</a:t>
              </a:r>
              <a:endParaRPr b="1" sz="1400">
                <a:solidFill>
                  <a:srgbClr val="2563EB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-419" sz="1050">
                  <a:solidFill>
                    <a:srgbClr val="475569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 mejores resultados académicos se observa:</a:t>
              </a:r>
              <a:endParaRPr b="0" sz="1050">
                <a:solidFill>
                  <a:srgbClr val="475569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0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Mejor clima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y convivencia escolar.</a:t>
              </a:r>
              <a:endParaRPr b="0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0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Mayor asistencia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a clases.</a:t>
              </a:r>
              <a:endParaRPr b="0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Source Sans Pro"/>
                <a:buChar char="●"/>
              </a:pPr>
              <a:r>
                <a:rPr b="0" lang="es-419" sz="105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Menor presencia</a:t>
              </a:r>
              <a:r>
                <a:rPr b="0" lang="es-419" sz="105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de estereotipos de género.</a:t>
              </a:r>
              <a:endParaRPr b="0" sz="105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14" name="Google Shape;214;p29"/>
          <p:cNvGrpSpPr/>
          <p:nvPr/>
        </p:nvGrpSpPr>
        <p:grpSpPr>
          <a:xfrm>
            <a:off x="6191250" y="1333500"/>
            <a:ext cx="2571900" cy="3333900"/>
            <a:chOff x="6191250" y="1333500"/>
            <a:chExt cx="2571900" cy="3333900"/>
          </a:xfrm>
        </p:grpSpPr>
        <p:sp>
          <p:nvSpPr>
            <p:cNvPr id="215" name="Google Shape;215;p29"/>
            <p:cNvSpPr/>
            <p:nvPr/>
          </p:nvSpPr>
          <p:spPr>
            <a:xfrm>
              <a:off x="6191250" y="1333500"/>
              <a:ext cx="2571900" cy="33339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9"/>
            <p:cNvSpPr txBox="1"/>
            <p:nvPr/>
          </p:nvSpPr>
          <p:spPr>
            <a:xfrm>
              <a:off x="6334125" y="1476375"/>
              <a:ext cx="2286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1400">
                  <a:solidFill>
                    <a:srgbClr val="10B981"/>
                  </a:solidFill>
                  <a:latin typeface="Raleway"/>
                  <a:ea typeface="Raleway"/>
                  <a:cs typeface="Raleway"/>
                  <a:sym typeface="Raleway"/>
                </a:rPr>
                <a:t>Desarrollo Social (IDPS)</a:t>
              </a:r>
              <a:endParaRPr b="1" sz="1400">
                <a:solidFill>
                  <a:srgbClr val="10B98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110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Existe una </a:t>
              </a:r>
              <a:r>
                <a:rPr b="1" lang="es-419" sz="1100">
                  <a:solidFill>
                    <a:srgbClr val="0F172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fuerte asociación positiva</a:t>
              </a:r>
              <a:r>
                <a:rPr b="0" lang="es-419" sz="1100">
                  <a:solidFill>
                    <a:srgbClr val="334155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entre los indicadores clave de desarrollo personal y social:</a:t>
              </a:r>
              <a:endParaRPr b="0" sz="1100">
                <a:solidFill>
                  <a:srgbClr val="334155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-419" sz="950">
                  <a:solidFill>
                    <a:srgbClr val="047857"/>
                  </a:solidFill>
                  <a:highlight>
                    <a:srgbClr val="ECFDF5"/>
                  </a:highlight>
                  <a:latin typeface="Source Sans Pro"/>
                  <a:ea typeface="Source Sans Pro"/>
                  <a:cs typeface="Source Sans Pro"/>
                  <a:sym typeface="Source Sans Pro"/>
                </a:rPr>
                <a:t>Convivencia escolar</a:t>
              </a:r>
              <a:endParaRPr sz="950">
                <a:solidFill>
                  <a:srgbClr val="047857"/>
                </a:solidFill>
                <a:highlight>
                  <a:srgbClr val="ECFDF5"/>
                </a:highlight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50">
                  <a:solidFill>
                    <a:srgbClr val="047857"/>
                  </a:solidFill>
                  <a:highlight>
                    <a:srgbClr val="ECFDF5"/>
                  </a:highlight>
                  <a:latin typeface="Source Sans Pro"/>
                  <a:ea typeface="Source Sans Pro"/>
                  <a:cs typeface="Source Sans Pro"/>
                  <a:sym typeface="Source Sans Pro"/>
                </a:rPr>
                <a:t>Autoestima y motivación</a:t>
              </a:r>
              <a:endParaRPr b="0" sz="950">
                <a:solidFill>
                  <a:srgbClr val="047857"/>
                </a:solidFill>
                <a:highlight>
                  <a:srgbClr val="ECFDF5"/>
                </a:highlight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50">
                  <a:solidFill>
                    <a:srgbClr val="047857"/>
                  </a:solidFill>
                  <a:highlight>
                    <a:srgbClr val="ECFDF5"/>
                  </a:highlight>
                  <a:latin typeface="Source Sans Pro"/>
                  <a:ea typeface="Source Sans Pro"/>
                  <a:cs typeface="Source Sans Pro"/>
                  <a:sym typeface="Source Sans Pro"/>
                </a:rPr>
                <a:t>Participación ciudadana</a:t>
              </a:r>
              <a:endParaRPr b="0" sz="950">
                <a:solidFill>
                  <a:srgbClr val="047857"/>
                </a:solidFill>
                <a:highlight>
                  <a:srgbClr val="ECFDF5"/>
                </a:highlight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419" sz="950">
                  <a:solidFill>
                    <a:srgbClr val="047857"/>
                  </a:solidFill>
                  <a:highlight>
                    <a:srgbClr val="ECFDF5"/>
                  </a:highlight>
                  <a:latin typeface="Source Sans Pro"/>
                  <a:ea typeface="Source Sans Pro"/>
                  <a:cs typeface="Source Sans Pro"/>
                  <a:sym typeface="Source Sans Pro"/>
                </a:rPr>
                <a:t>Vida saludable</a:t>
              </a:r>
              <a:endParaRPr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